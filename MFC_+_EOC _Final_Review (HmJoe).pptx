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omments/modernComment_11C_266A7F10.xml" ContentType="application/vnd.ms-powerpoint.comments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comments/modernComment_11D_8B72B084.xml" ContentType="application/vnd.ms-powerpoint.comments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96" r:id="rId4"/>
    <p:sldId id="295" r:id="rId5"/>
    <p:sldId id="262" r:id="rId6"/>
    <p:sldId id="261" r:id="rId7"/>
    <p:sldId id="292" r:id="rId8"/>
    <p:sldId id="280" r:id="rId9"/>
    <p:sldId id="277" r:id="rId10"/>
    <p:sldId id="294" r:id="rId11"/>
    <p:sldId id="289" r:id="rId12"/>
    <p:sldId id="291" r:id="rId13"/>
    <p:sldId id="284" r:id="rId14"/>
    <p:sldId id="285" r:id="rId15"/>
    <p:sldId id="286" r:id="rId16"/>
    <p:sldId id="297" r:id="rId17"/>
    <p:sldId id="274" r:id="rId18"/>
    <p:sldId id="298" r:id="rId19"/>
    <p:sldId id="270" r:id="rId20"/>
  </p:sldIdLst>
  <p:sldSz cx="18288000" cy="10287000"/>
  <p:notesSz cx="6858000" cy="9144000"/>
  <p:embeddedFontLst>
    <p:embeddedFont>
      <p:font typeface="Futura" panose="020B0604020202020204" charset="0"/>
      <p:regular r:id="rId22"/>
    </p:embeddedFont>
    <p:embeddedFont>
      <p:font typeface="League Sparta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3D3303A-A875-2CC5-E238-7192C3ED3678}" name="Guest User" initials="GU" userId="S::urn:spo:anon#a58261f9ab03a679892e28935cbe0a20f051b4b053089b761ed8b67631c79ba3::" providerId="AD"/>
  <p188:author id="{1C1901D3-7C3D-8836-BDC4-4339ACE85F1F}" name="HARISH" initials="HM" userId="S::HARISH777@04050606.onmicrosoft.com::7ff127bf-97a1-4adf-ae49-795b56a1a7b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C8B4"/>
    <a:srgbClr val="FDF7E4"/>
    <a:srgbClr val="DED0B6"/>
    <a:srgbClr val="A4907C"/>
    <a:srgbClr val="EEDDCA"/>
    <a:srgbClr val="663300"/>
    <a:srgbClr val="996633"/>
    <a:srgbClr val="FDEFBB"/>
    <a:srgbClr val="FBE1C9"/>
    <a:srgbClr val="FAD4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1020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omments/modernComment_11C_266A7F1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798823-0C7E-49F4-A6BB-7713F260F49E}" authorId="{1C1901D3-7C3D-8836-BDC4-4339ACE85F1F}" created="2025-03-07T13:01:34.779">
    <pc:sldMkLst xmlns:pc="http://schemas.microsoft.com/office/powerpoint/2013/main/command">
      <pc:docMk/>
      <pc:sldMk cId="644513552" sldId="284"/>
    </pc:sldMkLst>
    <p188:txBody>
      <a:bodyPr/>
      <a:lstStyle/>
      <a:p>
        <a:r>
          <a:rPr lang="en-IN"/>
          <a:t>Order wise
1. Random Forest
2. XG-Boost
3. SVM</a:t>
        </a:r>
      </a:p>
    </p188:txBody>
  </p188:cm>
</p188:cmLst>
</file>

<file path=ppt/comments/modernComment_11D_8B72B08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6759639-625B-4242-8E6C-0D472AE2FC55}" authorId="{1C1901D3-7C3D-8836-BDC4-4339ACE85F1F}" created="2025-03-07T13:01:08.559">
    <pc:sldMkLst xmlns:pc="http://schemas.microsoft.com/office/powerpoint/2013/main/command">
      <pc:docMk/>
      <pc:sldMk cId="2339549316" sldId="285"/>
    </pc:sldMkLst>
    <p188:txBody>
      <a:bodyPr/>
      <a:lstStyle/>
      <a:p>
        <a:r>
          <a:rPr lang="en-IN"/>
          <a:t>1. XG-Boost
2. Random Forest
3. SVM Classifier
This is the order of the images for page no  15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04-11T05:44:06.100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0,'0'165,"0"-4,0 53,0 2978,0 11511,0-12116,0-5527,0 2899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49:41.23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0 192 24575,'301'0'0,"1"0"-164,1649 0-3723,-1913-2 4218,1-3-1,-1-1 0,0-1 0,63-22 0,-6 2 997,-53 17-1027,176-40 473,-139 34-773,-8 2 0,85-7 0,301 16 0,-248 8 0,956-3-1365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05.6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41 24575,'0'-1'0,"0"1"0,1-1 0,-1 1 0,0 0 0,0-1 0,1 1 0,-1-1 0,0 1 0,0 0 0,1-1 0,-1 1 0,0 0 0,1-1 0,-1 1 0,1 0 0,-1 0 0,0 0 0,1-1 0,-1 1 0,1 0 0,-1 0 0,1 0 0,-1 0 0,0 0 0,1 0 0,0-1 0,17-1 0,-15 2 0,93-12 0,33-2 0,340 10 0,-259 6 0,4222-2-1365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09.06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52 24575,'69'1'0,"1"0"0,0-2 0,88-15 0,0 0 0,-87 10 0,596-8 0,-444 15 0,2128-1-1365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14.66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14 24575,'2'-1'0,"0"0"0,0 0 0,0 0 0,0 0 0,0 0 0,0 0 0,0 1 0,0-1 0,1 1 0,-1-1 0,0 1 0,0 0 0,1 0 0,2 0 0,3 0 0,481-5 0,-270 7 0,2059-2 0,-2085 13 0,756-14-1365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16.18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24575,'1047'26'0,"-923"-19"0,283 12 0,-244-14 0,106 2 0,1547-8-1365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18.9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1 318 24575,'1126'0'0,"-1100"-1"0,0-1 0,28-7 0,35-3 0,316-25 0,-266 16 0,47-4 0,132 20 0,-62 3 0,-232 0 0,-1-2 0,37-9 0,24-4 0,270-28 0,-194 20 0,69-8 0,-208 30 0,1-1 0,39-13 0,8-2 0,-23 10-455,1 3 0,94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24.9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52 24575,'3064'0'0,"-3040"-1"0,-1-1 0,31-7 0,-30 4 0,0 1 0,27 0 0,-31 2 0,0 0 0,31-7 0,-32 4 0,0 2 0,1 0 0,21 1 0,23 2-1365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29.22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24575,'5351'0'0,"-5253"7"0,-11-1 0,754-4 0,-428-4 0,1493 2 0,-1460 13 0,-192 1 0,-202-10 0,78 17 0,0 0 0,40-14 0,52 5 0,165 11 0,-321-23 0,120 15 0,-85-3 0,135-1 0,-217-10 0,124 4 0,56 1 0,363-7-1365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0:34.32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1 279 24575,'232'-12'0,"-25"-1"0,-99 7 0,114-21 0,-173 22 0,1 2 0,55 4 0,-27 1 0,-55-2 0,58 1 0,139-17 0,481-80 0,-503 61 0,-89 14 0,-43 13 0,1 3 0,113 6 0,-62 2 0,988-4 0,-985-5 0,2 0 0,-115 6 0,-1-1 0,1-1 0,0 1 0,-1-1 0,13-5 0,-12 4 0,1 0 0,-1 1 0,1 0 0,12-1 0,205 2 0,-108 2 0,-63 5 215,-27-1-1795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1:07.5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24575,'386'16'0,"-153"-3"0,709-3 0,-635-11 0,29-12 0,450 12 189,-406 2-1743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1:09.11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24575,'403'15'0,"-294"-9"0,154 14 0,195 5 0,677-29 0,-632 6 0,-277 4 0,-83 0 0,18 0 0,134 1 0,-137-1 315,-42 0-1995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1:11.68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92 24575,'1'-1'0,"-1"0"0,1 1 0,0-1 0,-1 0 0,1 1 0,0-1 0,0 1 0,-1-1 0,1 1 0,0 0 0,0-1 0,0 1 0,0 0 0,-1-1 0,1 1 0,0 0 0,0 0 0,0 0 0,0 0 0,0 0 0,0 0 0,1 0 0,1 0 0,297-7 0,-190 8 0,620 0 0,-694-1 0,0-1 0,0-2 0,55-12 0,-49 3 0,-18 5 0,41-7 0,57 4 0,164 7 0,-150 5 0,-44-2 0,236-10 0,-258 5 0,91 5 0,-62 2 0,-14-2 0,49-2 0,227 28 0,-249-12 0,121 1 0,-168-11 0,71 15 0,-4 0 0,217-12 82,-215-8-1529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1:16.04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53 24575,'1879'0'-1966,"-1847"0"2226,0-1-1,1-1 1,-1-2-1,39-9 1,-50 9-129,0 1-1,0 1 1,0 1 0,24 2 0,12-1-117,36-3-14,205-14 0,-156 14 13,-94 4-1391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1:20.87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14 24575,'1'-1'0,"0"1"0,0-1 0,1 0 0,-1 0 0,0 1 0,0-1 0,1 1 0,-1-1 0,0 1 0,1 0 0,-1-1 0,1 1 0,-1 0 0,0 0 0,1 0 0,-1 0 0,2 0 0,1 0 0,383-7 0,-245 9 0,2351-1 188,-1291-2-1741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1:22.89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24575,'147'0'0,"397"5"0,-2 42 0,-462-34 0,196 25 0,-188-29 0,101-4 0,821-11 0,-580 8 0,952-2-1365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3:51:25.33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24575,'5643'0'0,"-5624"0"-273,0 1 0,-1 0 0,1 2 0,22 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4:19:33.0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24575,'4048'0'-1365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4:19:45.0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24575,'5521'0'-1365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08T04:19:53.29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52 24575,'60'0'0,"-8"1"0,0-2 0,0-2 0,56-11 0,-32 1 0,93-5 0,148 14 0,-172 6 0,1045-2 0,-1003 9 0,-21-1 0,-45 1 0,7-1 0,644-8 0,-749 1 0,34 6 0,9 0 0,31 2 0,27 0 0,747-10-1365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84977C-97EC-4731-9777-899948940E60}" type="datetimeFigureOut">
              <a:rPr lang="en-IN" smtClean="0"/>
              <a:t>14-04-2025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C6DC58-36FB-4B33-B4DE-D84532317F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77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6DC58-36FB-4B33-B4DE-D84532317F73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784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C6DC58-36FB-4B33-B4DE-D84532317F7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2.sv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9.png"/><Relationship Id="rId21" Type="http://schemas.openxmlformats.org/officeDocument/2006/relationships/image" Target="../media/image200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7" Type="http://schemas.openxmlformats.org/officeDocument/2006/relationships/image" Target="../media/image130.png"/><Relationship Id="rId2" Type="http://schemas.microsoft.com/office/2018/10/relationships/comments" Target="../comments/modernComment_11C_266A7F10.xml"/><Relationship Id="rId16" Type="http://schemas.openxmlformats.org/officeDocument/2006/relationships/customXml" Target="../ink/ink7.xml"/><Relationship Id="rId20" Type="http://schemas.openxmlformats.org/officeDocument/2006/relationships/customXml" Target="../ink/ink9.xml"/><Relationship Id="rId29" Type="http://schemas.openxmlformats.org/officeDocument/2006/relationships/image" Target="../media/image240.png"/><Relationship Id="rId41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150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8.png"/><Relationship Id="rId40" Type="http://schemas.openxmlformats.org/officeDocument/2006/relationships/customXml" Target="../ink/ink19.xml"/><Relationship Id="rId5" Type="http://schemas.openxmlformats.org/officeDocument/2006/relationships/image" Target="../media/image25.png"/><Relationship Id="rId15" Type="http://schemas.openxmlformats.org/officeDocument/2006/relationships/image" Target="../media/image170.png"/><Relationship Id="rId23" Type="http://schemas.openxmlformats.org/officeDocument/2006/relationships/image" Target="../media/image210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10" Type="http://schemas.openxmlformats.org/officeDocument/2006/relationships/customXml" Target="../ink/ink4.xml"/><Relationship Id="rId19" Type="http://schemas.openxmlformats.org/officeDocument/2006/relationships/image" Target="../media/image190.png"/><Relationship Id="rId31" Type="http://schemas.openxmlformats.org/officeDocument/2006/relationships/image" Target="../media/image250.png"/><Relationship Id="rId4" Type="http://schemas.openxmlformats.org/officeDocument/2006/relationships/image" Target="../media/image24.png"/><Relationship Id="rId9" Type="http://schemas.openxmlformats.org/officeDocument/2006/relationships/image" Target="../media/image140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30.png"/><Relationship Id="rId30" Type="http://schemas.openxmlformats.org/officeDocument/2006/relationships/customXml" Target="../ink/ink14.xml"/><Relationship Id="rId35" Type="http://schemas.openxmlformats.org/officeDocument/2006/relationships/image" Target="../media/image27.png"/><Relationship Id="rId43" Type="http://schemas.openxmlformats.org/officeDocument/2006/relationships/image" Target="../media/image31.png"/><Relationship Id="rId8" Type="http://schemas.openxmlformats.org/officeDocument/2006/relationships/customXml" Target="../ink/ink3.xml"/><Relationship Id="rId3" Type="http://schemas.openxmlformats.org/officeDocument/2006/relationships/image" Target="../media/image23.png"/><Relationship Id="rId12" Type="http://schemas.openxmlformats.org/officeDocument/2006/relationships/customXml" Target="../ink/ink5.xml"/><Relationship Id="rId17" Type="http://schemas.openxmlformats.org/officeDocument/2006/relationships/image" Target="../media/image180.png"/><Relationship Id="rId25" Type="http://schemas.openxmlformats.org/officeDocument/2006/relationships/image" Target="../media/image220.png"/><Relationship Id="rId33" Type="http://schemas.openxmlformats.org/officeDocument/2006/relationships/image" Target="../media/image26.png"/><Relationship Id="rId38" Type="http://schemas.openxmlformats.org/officeDocument/2006/relationships/customXml" Target="../ink/ink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microsoft.com/office/2018/10/relationships/comments" Target="../comments/modernComment_11D_8B72B08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4907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11"/>
          <p:cNvGrpSpPr/>
          <p:nvPr/>
        </p:nvGrpSpPr>
        <p:grpSpPr>
          <a:xfrm>
            <a:off x="349651" y="335363"/>
            <a:ext cx="1209546" cy="1209546"/>
            <a:chOff x="0" y="0"/>
            <a:chExt cx="812800" cy="812800"/>
          </a:xfrm>
        </p:grpSpPr>
        <p:sp>
          <p:nvSpPr>
            <p:cNvPr id="24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90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Box 1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2" name="AutoShape 2"/>
          <p:cNvSpPr/>
          <p:nvPr/>
        </p:nvSpPr>
        <p:spPr>
          <a:xfrm>
            <a:off x="0" y="9272587"/>
            <a:ext cx="18288000" cy="0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AutoShape 7"/>
          <p:cNvSpPr/>
          <p:nvPr/>
        </p:nvSpPr>
        <p:spPr>
          <a:xfrm>
            <a:off x="2651760" y="1047750"/>
            <a:ext cx="8965822" cy="0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AutoShape 8"/>
          <p:cNvSpPr/>
          <p:nvPr/>
        </p:nvSpPr>
        <p:spPr>
          <a:xfrm>
            <a:off x="17748766" y="0"/>
            <a:ext cx="0" cy="9240261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1961215" y="586754"/>
            <a:ext cx="795850" cy="656576"/>
          </a:xfrm>
          <a:custGeom>
            <a:avLst/>
            <a:gdLst/>
            <a:ahLst/>
            <a:cxnLst/>
            <a:rect l="l" t="t" r="r" b="b"/>
            <a:pathLst>
              <a:path w="795850" h="656576">
                <a:moveTo>
                  <a:pt x="0" y="0"/>
                </a:moveTo>
                <a:lnTo>
                  <a:pt x="795850" y="0"/>
                </a:lnTo>
                <a:lnTo>
                  <a:pt x="795850" y="656576"/>
                </a:lnTo>
                <a:lnTo>
                  <a:pt x="0" y="65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271126" y="5277699"/>
            <a:ext cx="1234212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/>
            <a:r>
              <a:rPr lang="en-US" sz="6000" b="1" spc="555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League Spartan"/>
                <a:ea typeface="League Spartan"/>
                <a:cs typeface="League Spartan"/>
                <a:sym typeface="League Spartan"/>
              </a:rPr>
              <a:t>TAMIL POLITICAL TEXT EMOTION RECOGNITION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-730949" y="8242951"/>
            <a:ext cx="7973433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640"/>
              </a:lnSpc>
            </a:pPr>
            <a:r>
              <a:rPr lang="en-US" sz="3200" b="1" spc="26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utura"/>
                <a:ea typeface="Futura"/>
                <a:cs typeface="Futura"/>
                <a:sym typeface="Futura"/>
              </a:rPr>
              <a:t>HARISH .M &amp; JYOTHSNA .V </a:t>
            </a:r>
            <a:endParaRPr lang="en-US" sz="2600" spc="260">
              <a:solidFill>
                <a:srgbClr val="FDF7E4"/>
              </a:solidFill>
              <a:latin typeface="Futura"/>
              <a:ea typeface="Futura"/>
              <a:cs typeface="Futur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323337" y="9418439"/>
            <a:ext cx="2937815" cy="1009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149">
                <a:solidFill>
                  <a:srgbClr val="FDF7E4"/>
                </a:solidFill>
                <a:latin typeface="Futura"/>
                <a:ea typeface="Futura"/>
                <a:cs typeface="Futura"/>
                <a:sym typeface="Futura"/>
              </a:rPr>
              <a:t>BY GROUP 3</a:t>
            </a:r>
          </a:p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endParaRPr lang="en-US" sz="2999" spc="149">
              <a:solidFill>
                <a:srgbClr val="FDF7E4"/>
              </a:solidFill>
              <a:latin typeface="Futura"/>
              <a:ea typeface="Futura"/>
              <a:cs typeface="Futura"/>
              <a:sym typeface="Futura"/>
            </a:endParaRPr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7D8C860D-F019-D59B-BF36-B44C8ADD4201}"/>
              </a:ext>
            </a:extLst>
          </p:cNvPr>
          <p:cNvSpPr/>
          <p:nvPr/>
        </p:nvSpPr>
        <p:spPr>
          <a:xfrm>
            <a:off x="13066893" y="1014412"/>
            <a:ext cx="8965822" cy="0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1026" name="Picture 2" descr="This may contain: a person using a cell phone with social icons coming out of the screen at night">
            <a:extLst>
              <a:ext uri="{FF2B5EF4-FFF2-40B4-BE49-F238E27FC236}">
                <a16:creationId xmlns:a16="http://schemas.microsoft.com/office/drawing/2014/main" id="{CEA8D5BD-2470-BF9D-9852-A1CC1C016C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72558" y="871476"/>
            <a:ext cx="5436720" cy="36168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3074" name="Picture 2" descr="This may contain: an ancient stone wall with some writing on it">
            <a:extLst>
              <a:ext uri="{FF2B5EF4-FFF2-40B4-BE49-F238E27FC236}">
                <a16:creationId xmlns:a16="http://schemas.microsoft.com/office/drawing/2014/main" id="{78AB5955-98AE-0108-5152-1AD84336E4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1658" y="1230630"/>
            <a:ext cx="4991700" cy="748389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grpSp>
        <p:nvGrpSpPr>
          <p:cNvPr id="5" name="Group 14"/>
          <p:cNvGrpSpPr/>
          <p:nvPr/>
        </p:nvGrpSpPr>
        <p:grpSpPr>
          <a:xfrm>
            <a:off x="16187580" y="4484495"/>
            <a:ext cx="2724448" cy="2724448"/>
            <a:chOff x="0" y="0"/>
            <a:chExt cx="812800" cy="812800"/>
          </a:xfrm>
        </p:grpSpPr>
        <p:sp>
          <p:nvSpPr>
            <p:cNvPr id="6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90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16"/>
          <p:cNvSpPr/>
          <p:nvPr/>
        </p:nvSpPr>
        <p:spPr>
          <a:xfrm>
            <a:off x="3797679" y="6225546"/>
            <a:ext cx="11115471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2052" name="Picture 4" descr="This may contain: colorful hands up in the air with space for your text or image - stock photo">
            <a:extLst>
              <a:ext uri="{FF2B5EF4-FFF2-40B4-BE49-F238E27FC236}">
                <a16:creationId xmlns:a16="http://schemas.microsoft.com/office/drawing/2014/main" id="{BF30B6A1-0C8E-6591-0314-F85FA234FF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354640" y="3339338"/>
            <a:ext cx="10331450" cy="35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This may contain: a man holding a bow and arrow in front of an orange sky with sunbursts">
            <a:extLst>
              <a:ext uri="{FF2B5EF4-FFF2-40B4-BE49-F238E27FC236}">
                <a16:creationId xmlns:a16="http://schemas.microsoft.com/office/drawing/2014/main" id="{1BD693BC-31B4-DADB-7899-BA0B5A98D4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681"/>
          <a:stretch/>
        </p:blipFill>
        <p:spPr bwMode="auto">
          <a:xfrm>
            <a:off x="14335420" y="0"/>
            <a:ext cx="3944173" cy="10287000"/>
          </a:xfrm>
          <a:prstGeom prst="rect">
            <a:avLst/>
          </a:prstGeom>
          <a:noFill/>
          <a:effectLst>
            <a:outerShdw blurRad="50800" dist="50800" dir="5400000" algn="ctr" rotWithShape="0">
              <a:schemeClr val="bg2">
                <a:lumMod val="90000"/>
                <a:alpha val="0"/>
              </a:schemeClr>
            </a:outerShdw>
          </a:effectLst>
        </p:spPr>
      </p:pic>
      <p:grpSp>
        <p:nvGrpSpPr>
          <p:cNvPr id="6" name="Group 6"/>
          <p:cNvGrpSpPr/>
          <p:nvPr/>
        </p:nvGrpSpPr>
        <p:grpSpPr>
          <a:xfrm>
            <a:off x="2938229" y="5148390"/>
            <a:ext cx="1289040" cy="12890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625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3987440" y="655796"/>
            <a:ext cx="1276221" cy="1321088"/>
            <a:chOff x="0" y="-28575"/>
            <a:chExt cx="812800" cy="8413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E625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484444" y="699731"/>
            <a:ext cx="9300885" cy="102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960"/>
              </a:lnSpc>
            </a:pPr>
            <a:r>
              <a:rPr lang="en-US" sz="5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PROBLEM STATEMENT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0865" y="5140066"/>
            <a:ext cx="9264428" cy="1027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60"/>
              </a:lnSpc>
            </a:pPr>
            <a:r>
              <a:rPr lang="en-US" sz="5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PROPOSED SOLUTION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985053" y="2238976"/>
            <a:ext cx="10087686" cy="24929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Tamil, being a low-resource language, presents unique challenges such as linguistic nuances, dialectical variations, and a scarcity of annotated data</a:t>
            </a:r>
            <a:r>
              <a:rPr lang="en-US" sz="2700" spc="115" dirty="0">
                <a:solidFill>
                  <a:srgbClr val="302D2A"/>
                </a:solidFill>
                <a:latin typeface="Times New Roman" panose="02020603050405020304" pitchFamily="18" charset="0"/>
                <a:ea typeface="Futura"/>
                <a:cs typeface="Times New Roman" panose="02020603050405020304" pitchFamily="18" charset="0"/>
                <a:sym typeface="Futura"/>
              </a:rPr>
              <a:t>.</a:t>
            </a:r>
          </a:p>
          <a:p>
            <a:pPr algn="just"/>
            <a:endParaRPr lang="en-US" sz="2700" spc="115" dirty="0">
              <a:solidFill>
                <a:srgbClr val="302D2A"/>
              </a:solidFill>
              <a:latin typeface="Times New Roman" panose="02020603050405020304" pitchFamily="18" charset="0"/>
              <a:ea typeface="Futura"/>
              <a:cs typeface="Times New Roman" panose="02020603050405020304" pitchFamily="18" charset="0"/>
              <a:sym typeface="Futura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700" dirty="0"/>
              <a:t>Existing emotion recognition models are largely trained on English and other widely spoken languages, with limited support for Tamil.</a:t>
            </a:r>
            <a:endParaRPr lang="en-US" sz="2700" spc="115" dirty="0">
              <a:solidFill>
                <a:srgbClr val="302D2A"/>
              </a:solidFill>
              <a:latin typeface="Times New Roman" panose="02020603050405020304" pitchFamily="18" charset="0"/>
              <a:ea typeface="Futura"/>
              <a:cs typeface="Times New Roman" panose="02020603050405020304" pitchFamily="18" charset="0"/>
              <a:sym typeface="Futura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972465" y="6797387"/>
            <a:ext cx="10012828" cy="33070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700">
                <a:latin typeface="Times New Roman"/>
                <a:cs typeface="Times New Roman"/>
              </a:rPr>
              <a:t>Develop an Emotion Identification model capable of classifying emotions into one of </a:t>
            </a:r>
            <a:r>
              <a:rPr lang="en-US" sz="2700" b="1">
                <a:latin typeface="Times New Roman"/>
                <a:cs typeface="Times New Roman"/>
              </a:rPr>
              <a:t>seven distinct categories, </a:t>
            </a:r>
            <a:r>
              <a:rPr lang="en-US" sz="2700">
                <a:latin typeface="Times New Roman"/>
                <a:cs typeface="Times New Roman"/>
              </a:rPr>
              <a:t>by utilizing appropriate NLP tools to </a:t>
            </a:r>
            <a:r>
              <a:rPr lang="en-US" sz="2700" b="1">
                <a:latin typeface="Times New Roman"/>
                <a:cs typeface="Times New Roman"/>
              </a:rPr>
              <a:t>process Tamil texts</a:t>
            </a:r>
            <a:r>
              <a:rPr lang="en-US" sz="2700">
                <a:latin typeface="Times New Roman"/>
                <a:cs typeface="Times New Roman"/>
              </a:rPr>
              <a:t>, extract meaningful insights, and accurately determine sentiment.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7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700">
              <a:solidFill>
                <a:srgbClr val="000000"/>
              </a:solidFill>
              <a:latin typeface="Times New Roman" panose="02020603050405020304" pitchFamily="18" charset="0"/>
              <a:ea typeface="Futura"/>
              <a:cs typeface="Times New Roman" panose="02020603050405020304" pitchFamily="18" charset="0"/>
            </a:endParaRPr>
          </a:p>
          <a:p>
            <a:pPr algn="just"/>
            <a:endParaRPr lang="en-US" sz="2700">
              <a:solidFill>
                <a:srgbClr val="000000"/>
              </a:solidFill>
              <a:latin typeface="Times New Roman" panose="02020603050405020304" pitchFamily="18" charset="0"/>
              <a:ea typeface="Futura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ts val="3335"/>
              </a:lnSpc>
              <a:buFont typeface="Arial" panose="020B0604020202020204" pitchFamily="34" charset="0"/>
              <a:buChar char="•"/>
            </a:pPr>
            <a:endParaRPr lang="en-US" sz="2700" spc="115">
              <a:solidFill>
                <a:srgbClr val="302D2A"/>
              </a:solidFill>
              <a:latin typeface="Times New Roman" panose="02020603050405020304" pitchFamily="18" charset="0"/>
              <a:ea typeface="Futura"/>
              <a:cs typeface="Times New Roman" panose="02020603050405020304" pitchFamily="18" charset="0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3577150" y="1785210"/>
            <a:ext cx="11115471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0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A843B4-F18A-B5A6-5ADE-DE152BA75DD7}"/>
              </a:ext>
            </a:extLst>
          </p:cNvPr>
          <p:cNvSpPr txBox="1"/>
          <p:nvPr/>
        </p:nvSpPr>
        <p:spPr>
          <a:xfrm>
            <a:off x="647684" y="2142678"/>
            <a:ext cx="10460583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Analysis: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 helps political leaders and parties understand public opinion, improve campaign strategies, and respond to citizens' concerns in real time.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 use sentiment analysis to analyze customer feedback, improve products/services, and enhance brand reputation management.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Monitoring: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It’s widely used to track trends, public reactions, and emotional responses to events, news, or social movements across platforms like Twitter, Facebook, and YouTube.</a:t>
            </a: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17">
            <a:extLst>
              <a:ext uri="{FF2B5EF4-FFF2-40B4-BE49-F238E27FC236}">
                <a16:creationId xmlns:a16="http://schemas.microsoft.com/office/drawing/2014/main" id="{8F9106C7-B6D4-E24B-C375-971C003B3FF1}"/>
              </a:ext>
            </a:extLst>
          </p:cNvPr>
          <p:cNvSpPr/>
          <p:nvPr/>
        </p:nvSpPr>
        <p:spPr>
          <a:xfrm flipV="1">
            <a:off x="647683" y="1659467"/>
            <a:ext cx="13237650" cy="24143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1028" name="Picture 4" descr="Sentiment Analysis 2.0 - Definition and Idea [Five Level Model].">
            <a:extLst>
              <a:ext uri="{FF2B5EF4-FFF2-40B4-BE49-F238E27FC236}">
                <a16:creationId xmlns:a16="http://schemas.microsoft.com/office/drawing/2014/main" id="{AC037DEA-E5CF-E22D-A311-BB416A76D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6932" y="1982045"/>
            <a:ext cx="6485468" cy="34321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Business Analysis - 7 Steps in the Process flow">
            <a:extLst>
              <a:ext uri="{FF2B5EF4-FFF2-40B4-BE49-F238E27FC236}">
                <a16:creationId xmlns:a16="http://schemas.microsoft.com/office/drawing/2014/main" id="{E4EE2CE9-C910-6110-019E-F667834880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46931" y="5414184"/>
            <a:ext cx="6485467" cy="348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0828117-12CC-1372-3D9A-D245ADBAB8E3}"/>
              </a:ext>
            </a:extLst>
          </p:cNvPr>
          <p:cNvSpPr txBox="1"/>
          <p:nvPr/>
        </p:nvSpPr>
        <p:spPr>
          <a:xfrm>
            <a:off x="647683" y="643804"/>
            <a:ext cx="158326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SENTIMENT ANALYSIS</a:t>
            </a:r>
            <a:endParaRPr lang="en-IN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67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0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516BDE6-67D2-1B94-CB8A-FFB045B5766C}"/>
                  </a:ext>
                </a:extLst>
              </p14:cNvPr>
              <p14:cNvContentPartPr/>
              <p14:nvPr/>
            </p14:nvContentPartPr>
            <p14:xfrm>
              <a:off x="9144000" y="1439694"/>
              <a:ext cx="360" cy="7568119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516BDE6-67D2-1B94-CB8A-FFB045B5766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137880" y="1433574"/>
                <a:ext cx="12600" cy="7580359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0F9AE4D-97F6-A421-AE1B-510DCA080327}"/>
              </a:ext>
            </a:extLst>
          </p:cNvPr>
          <p:cNvSpPr txBox="1"/>
          <p:nvPr/>
        </p:nvSpPr>
        <p:spPr>
          <a:xfrm>
            <a:off x="644548" y="1439694"/>
            <a:ext cx="8262385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ADVANTAGES </a:t>
            </a:r>
          </a:p>
          <a:p>
            <a:pPr algn="just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Real-Time Public Opinion Monitoring: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governments and political entities to gauge public reactions instantly, helping them adapt strategies or policies based on current sentiment trends.</a:t>
            </a:r>
          </a:p>
          <a:p>
            <a:pPr algn="just"/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Data-Driven Campaign Strategy: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Political parties can craft targeted messages and prioritize issues that resonate most with the electorate, improving voter engagement and campaign effectiveness.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Understanding Regional Political Mood: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Analyzing Tamil-language political content (news, speeches, social media) captures nuanced public sentiment specific to Tamil Nadu and other Tamil-speaking regions, offering insights that English-only models miss.</a:t>
            </a:r>
          </a:p>
          <a:p>
            <a:pPr algn="just"/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5F4936-378C-AFFA-F6DD-D9864D676D5B}"/>
              </a:ext>
            </a:extLst>
          </p:cNvPr>
          <p:cNvSpPr txBox="1"/>
          <p:nvPr/>
        </p:nvSpPr>
        <p:spPr>
          <a:xfrm>
            <a:off x="9296039" y="1439694"/>
            <a:ext cx="8347413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Linguistic and Dialectal Complexity: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Tamil has many dialects, code-switching patterns, and colloquialisms that are hard to capture using standard NLP models. This can reduce accuracy, especially if the model is trained on limited or non-diverse data.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A sentiment model might misinterpret sarcasm, slang, or rural dialects used in Tamil Nadu’s social media or political discussions.</a:t>
            </a:r>
            <a:endParaRPr lang="en-IN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Graphic 12" descr="Worried face with no fill">
            <a:extLst>
              <a:ext uri="{FF2B5EF4-FFF2-40B4-BE49-F238E27FC236}">
                <a16:creationId xmlns:a16="http://schemas.microsoft.com/office/drawing/2014/main" id="{0B99B316-9A46-2C6C-4F40-9B642FD541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646973" y="753504"/>
            <a:ext cx="1506344" cy="1506344"/>
          </a:xfrm>
          <a:prstGeom prst="rect">
            <a:avLst/>
          </a:prstGeom>
        </p:spPr>
      </p:pic>
      <p:pic>
        <p:nvPicPr>
          <p:cNvPr id="15" name="Graphic 14" descr="Grinning face with no fill">
            <a:extLst>
              <a:ext uri="{FF2B5EF4-FFF2-40B4-BE49-F238E27FC236}">
                <a16:creationId xmlns:a16="http://schemas.microsoft.com/office/drawing/2014/main" id="{DCC2F4EF-1BC0-801C-0DBC-EF65D6FCD66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548" y="752782"/>
            <a:ext cx="1507066" cy="150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002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0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144000" cy="5143500"/>
            <a:chOff x="0" y="0"/>
            <a:chExt cx="2408296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08296" cy="1354667"/>
            </a:xfrm>
            <a:custGeom>
              <a:avLst/>
              <a:gdLst/>
              <a:ahLst/>
              <a:cxnLst/>
              <a:rect l="l" t="t" r="r" b="b"/>
              <a:pathLst>
                <a:path w="2408296" h="1354667">
                  <a:moveTo>
                    <a:pt x="0" y="0"/>
                  </a:moveTo>
                  <a:lnTo>
                    <a:pt x="2408296" y="0"/>
                  </a:lnTo>
                  <a:lnTo>
                    <a:pt x="240829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DF7E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04775"/>
              <a:ext cx="2408296" cy="1459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143500"/>
            <a:ext cx="9144000" cy="5143500"/>
            <a:chOff x="0" y="0"/>
            <a:chExt cx="2408296" cy="135466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08296" cy="1354667"/>
            </a:xfrm>
            <a:custGeom>
              <a:avLst/>
              <a:gdLst/>
              <a:ahLst/>
              <a:cxnLst/>
              <a:rect l="l" t="t" r="r" b="b"/>
              <a:pathLst>
                <a:path w="2408296" h="1354667">
                  <a:moveTo>
                    <a:pt x="0" y="0"/>
                  </a:moveTo>
                  <a:lnTo>
                    <a:pt x="2408296" y="0"/>
                  </a:lnTo>
                  <a:lnTo>
                    <a:pt x="2408296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DF7E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104775"/>
              <a:ext cx="2408296" cy="14594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2700000">
            <a:off x="8165831" y="4067514"/>
            <a:ext cx="1956338" cy="2151972"/>
          </a:xfrm>
          <a:custGeom>
            <a:avLst/>
            <a:gdLst/>
            <a:ahLst/>
            <a:cxnLst/>
            <a:rect l="l" t="t" r="r" b="b"/>
            <a:pathLst>
              <a:path w="1956338" h="2151972">
                <a:moveTo>
                  <a:pt x="0" y="0"/>
                </a:moveTo>
                <a:lnTo>
                  <a:pt x="1956338" y="0"/>
                </a:lnTo>
                <a:lnTo>
                  <a:pt x="1956338" y="2151972"/>
                </a:lnTo>
                <a:lnTo>
                  <a:pt x="0" y="21519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17683227" y="4538727"/>
            <a:ext cx="1209546" cy="1209546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907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604773" y="4538727"/>
            <a:ext cx="1209546" cy="1209546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907C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031953" y="1446868"/>
            <a:ext cx="6244047" cy="30777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algn="just"/>
            <a:r>
              <a:rPr lang="en-US" sz="2000" b="1" dirty="0">
                <a:solidFill>
                  <a:srgbClr val="000000"/>
                </a:solidFill>
                <a:latin typeface="Times New Roman"/>
                <a:ea typeface="Calibri"/>
                <a:cs typeface="Arial"/>
                <a:sym typeface="Futura"/>
              </a:rPr>
              <a:t>A Review of Sentiment Analysis on Non-English Languages </a:t>
            </a:r>
            <a:endParaRPr lang="en-US" sz="2000" dirty="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457200" algn="just"/>
            <a:endParaRPr lang="en-US" sz="2000" b="1" dirty="0">
              <a:solidFill>
                <a:srgbClr val="000000"/>
              </a:solidFill>
              <a:latin typeface="Times New Roman"/>
              <a:ea typeface="Calibri"/>
              <a:cs typeface="Arial"/>
            </a:endParaRPr>
          </a:p>
          <a:p>
            <a:pPr marL="742950" indent="-285750" algn="just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  <a:cs typeface="Arial"/>
                <a:sym typeface="Futura"/>
              </a:rPr>
              <a:t>The</a:t>
            </a:r>
            <a:r>
              <a:rPr lang="en-US" sz="2000" dirty="0">
                <a:solidFill>
                  <a:srgbClr val="000000"/>
                </a:solidFill>
                <a:latin typeface="Times New Roman"/>
                <a:cs typeface="Arial"/>
                <a:sym typeface="Futura"/>
              </a:rPr>
              <a:t> study highlights key challenges in sentiment analysis for non-English languages, including limited linguistic resources, datasets, and language models.</a:t>
            </a:r>
            <a:endParaRPr lang="en-US" sz="2000" dirty="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742950" indent="-285750" algn="just">
              <a:buFont typeface="Arial"/>
              <a:buChar char="•"/>
            </a:pPr>
            <a:endParaRPr lang="en-US" sz="2000" dirty="0">
              <a:solidFill>
                <a:srgbClr val="000000"/>
              </a:solidFill>
              <a:latin typeface="Times New Roman"/>
              <a:cs typeface="Arial"/>
            </a:endParaRPr>
          </a:p>
          <a:p>
            <a:pPr marL="742950" indent="-285750" algn="just">
              <a:buFont typeface="Arial"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/>
                <a:cs typeface="Arial"/>
                <a:sym typeface="Futura"/>
              </a:rPr>
              <a:t>Advances in machine and deep learning, particularly multilingual embeddings and transfer learning, have significantly improved performance.</a:t>
            </a:r>
            <a:endParaRPr lang="en-US" sz="2000" dirty="0">
              <a:latin typeface="Times New Roman"/>
              <a:ea typeface="Calibri"/>
              <a:cs typeface="Calibri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822734" y="1450629"/>
            <a:ext cx="6593297" cy="3137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algn="just"/>
            <a:r>
              <a:rPr lang="en-US" sz="2000" b="1">
                <a:solidFill>
                  <a:srgbClr val="000000"/>
                </a:solidFill>
                <a:latin typeface="Times New Roman"/>
                <a:cs typeface="Arial"/>
              </a:rPr>
              <a:t>Sentiment Analysis on Arabic Facebook Comments</a:t>
            </a:r>
            <a:endParaRPr lang="en-US" sz="20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457200" algn="just"/>
            <a:endParaRPr lang="en-US" sz="2000" b="1">
              <a:solidFill>
                <a:srgbClr val="000000"/>
              </a:solidFill>
              <a:latin typeface="Times New Roman"/>
              <a:cs typeface="Arial"/>
            </a:endParaRPr>
          </a:p>
          <a:p>
            <a:pPr marL="800100" indent="-342900" algn="just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Arial"/>
              </a:rPr>
              <a:t>This research investigates sentiment classification for Arabic, addressing dialectal variations and complex morphology with deep learning techniques.</a:t>
            </a:r>
            <a:endParaRPr lang="en-US" sz="20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marL="800100" indent="-342900" algn="just">
              <a:buFont typeface="Arial"/>
              <a:buChar char="•"/>
            </a:pPr>
            <a:endParaRPr lang="en-US" sz="2000">
              <a:solidFill>
                <a:srgbClr val="000000"/>
              </a:solidFill>
              <a:latin typeface="Times New Roman"/>
              <a:cs typeface="Arial"/>
            </a:endParaRPr>
          </a:p>
          <a:p>
            <a:pPr marL="800100" indent="-342900" algn="just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Arial"/>
              </a:rPr>
              <a:t>Preprocessing methods such as tokenization, stemming, and stop-word removal play a crucial role in enhancing classification accuracy.</a:t>
            </a:r>
            <a:endParaRPr lang="en-US" sz="2000">
              <a:latin typeface="Times New Roman"/>
              <a:ea typeface="Calibri"/>
              <a:cs typeface="Calibri"/>
            </a:endParaRPr>
          </a:p>
          <a:p>
            <a:pPr marL="496570" lvl="1" indent="-248285" algn="just">
              <a:lnSpc>
                <a:spcPts val="3220"/>
              </a:lnSpc>
              <a:buFont typeface="Arial"/>
              <a:buChar char="•"/>
            </a:pPr>
            <a:endParaRPr lang="en-US" sz="2000">
              <a:solidFill>
                <a:srgbClr val="302D2A"/>
              </a:solidFill>
              <a:latin typeface="Times New Roman"/>
              <a:ea typeface="Futura"/>
              <a:cs typeface="Futura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920828" y="6154420"/>
            <a:ext cx="6355172" cy="3445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1" algn="just"/>
            <a:r>
              <a:rPr lang="en-US" sz="2000" b="1">
                <a:solidFill>
                  <a:srgbClr val="000000"/>
                </a:solidFill>
                <a:latin typeface="Times New Roman"/>
                <a:cs typeface="Arial"/>
              </a:rPr>
              <a:t>Sentiment Analysis at Document Level for Telugu Multi-Domain Data 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lvl="1" algn="just"/>
            <a:endParaRPr lang="en-US" sz="2000" b="1">
              <a:solidFill>
                <a:srgbClr val="000000"/>
              </a:solidFill>
              <a:latin typeface="Times New Roman"/>
              <a:cs typeface="Arial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Arial"/>
              </a:rPr>
              <a:t>The study focuses on document-level sentiment classification in Telugu, demonstrating the superiority of deep learning over traditional methods.</a:t>
            </a: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800100" lvl="1" indent="-342900" algn="just">
              <a:buFont typeface="Arial"/>
              <a:buChar char="•"/>
            </a:pPr>
            <a:endParaRPr lang="en-US" sz="2000">
              <a:solidFill>
                <a:srgbClr val="000000"/>
              </a:solidFill>
              <a:latin typeface="Times New Roman"/>
              <a:cs typeface="Arial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Arial"/>
              </a:rPr>
              <a:t>Effective feature extraction and context-aware models are essential for improving domain adaptability in sentiment analysis.</a:t>
            </a:r>
            <a:endParaRPr lang="en-US" sz="2000">
              <a:latin typeface="Times New Roman"/>
              <a:cs typeface="Times New Roman"/>
            </a:endParaRPr>
          </a:p>
          <a:p>
            <a:pPr marL="248285" lvl="1" algn="just">
              <a:lnSpc>
                <a:spcPts val="3220"/>
              </a:lnSpc>
            </a:pPr>
            <a:endParaRPr lang="en-US" sz="2000">
              <a:solidFill>
                <a:srgbClr val="302D2A"/>
              </a:solidFill>
              <a:latin typeface="Times New Roman"/>
              <a:ea typeface="Futura"/>
              <a:cs typeface="Futura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0854484" y="6154420"/>
            <a:ext cx="6561547" cy="3445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1" algn="just"/>
            <a:r>
              <a:rPr lang="en-US" sz="2000" b="1">
                <a:solidFill>
                  <a:srgbClr val="000000"/>
                </a:solidFill>
                <a:latin typeface="Times New Roman"/>
                <a:cs typeface="Arial"/>
              </a:rPr>
              <a:t>Deep Learning-Based Analysis of Tamil Code-Mixed Text Using ULMFiT</a:t>
            </a:r>
            <a:endParaRPr lang="en-US" sz="20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lvl="1" algn="just"/>
            <a:endParaRPr lang="en-US" sz="2000" b="1">
              <a:solidFill>
                <a:srgbClr val="000000"/>
              </a:solidFill>
              <a:latin typeface="Times New Roman"/>
              <a:cs typeface="Arial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Arial"/>
              </a:rPr>
              <a:t>This paper explores sentiment analysis of Tamil-English code-mixed data, leveraging pre-trained ULMFiT models for enhanced classification performance.</a:t>
            </a:r>
            <a:endParaRPr lang="en-US" sz="2000">
              <a:solidFill>
                <a:srgbClr val="000000"/>
              </a:solidFill>
              <a:latin typeface="Times New Roman"/>
              <a:ea typeface="Calibri"/>
              <a:cs typeface="Calibri"/>
            </a:endParaRPr>
          </a:p>
          <a:p>
            <a:pPr lvl="1" algn="just"/>
            <a:endParaRPr lang="en-US" sz="2000">
              <a:solidFill>
                <a:srgbClr val="000000"/>
              </a:solidFill>
              <a:latin typeface="Times New Roman"/>
              <a:cs typeface="Arial"/>
            </a:endParaRPr>
          </a:p>
          <a:p>
            <a:pPr marL="800100" lvl="1" indent="-342900" algn="just"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imes New Roman"/>
                <a:cs typeface="Arial"/>
              </a:rPr>
              <a:t>Spelling variations and syntactic inconsistencies in code-mixed text require specialized preprocessing techniques for accurate sentiment detection.</a:t>
            </a:r>
            <a:endParaRPr lang="en-US" sz="2000">
              <a:latin typeface="Times New Roman"/>
              <a:ea typeface="Calibri"/>
              <a:cs typeface="Calibri"/>
            </a:endParaRPr>
          </a:p>
          <a:p>
            <a:pPr marL="248285" lvl="1" algn="just">
              <a:lnSpc>
                <a:spcPts val="3220"/>
              </a:lnSpc>
            </a:pPr>
            <a:endParaRPr lang="en-US" sz="2000">
              <a:solidFill>
                <a:srgbClr val="302D2A"/>
              </a:solidFill>
              <a:latin typeface="Times New Roman"/>
              <a:ea typeface="Futura"/>
              <a:cs typeface="Futur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58AF34-5144-A517-A8FF-6EF5BEDAB2ED}"/>
              </a:ext>
            </a:extLst>
          </p:cNvPr>
          <p:cNvSpPr txBox="1"/>
          <p:nvPr/>
        </p:nvSpPr>
        <p:spPr>
          <a:xfrm>
            <a:off x="707454" y="200287"/>
            <a:ext cx="7239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LITERATURE REVIEW</a:t>
            </a:r>
            <a:endParaRPr lang="en-IN" sz="5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4A76302-E9E0-173C-2A92-19D7EA605DDB}"/>
              </a:ext>
            </a:extLst>
          </p:cNvPr>
          <p:cNvSpPr txBox="1"/>
          <p:nvPr/>
        </p:nvSpPr>
        <p:spPr>
          <a:xfrm>
            <a:off x="9503084" y="886882"/>
            <a:ext cx="13391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0"/>
              <a:t>2</a:t>
            </a:r>
            <a:endParaRPr lang="en-IN" sz="2300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182A60-8530-CEAF-B635-EA850C383541}"/>
              </a:ext>
            </a:extLst>
          </p:cNvPr>
          <p:cNvSpPr txBox="1"/>
          <p:nvPr/>
        </p:nvSpPr>
        <p:spPr>
          <a:xfrm>
            <a:off x="316966" y="886882"/>
            <a:ext cx="13391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0"/>
              <a:t>1</a:t>
            </a:r>
            <a:endParaRPr lang="en-IN" sz="230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DEE6A2-6EB3-9046-78E3-78FE76EDDED6}"/>
              </a:ext>
            </a:extLst>
          </p:cNvPr>
          <p:cNvSpPr txBox="1"/>
          <p:nvPr/>
        </p:nvSpPr>
        <p:spPr>
          <a:xfrm>
            <a:off x="491378" y="5572258"/>
            <a:ext cx="13391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0"/>
              <a:t>3</a:t>
            </a:r>
            <a:endParaRPr lang="en-IN" sz="2300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FC2834-FFE7-5EEF-D642-4C62645D4822}"/>
              </a:ext>
            </a:extLst>
          </p:cNvPr>
          <p:cNvSpPr txBox="1"/>
          <p:nvPr/>
        </p:nvSpPr>
        <p:spPr>
          <a:xfrm>
            <a:off x="9635378" y="5583001"/>
            <a:ext cx="1339112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3000"/>
              <a:t>4</a:t>
            </a:r>
            <a:endParaRPr lang="en-IN" sz="2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400801" y="935967"/>
            <a:ext cx="10858500" cy="42057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6400800" y="3844135"/>
            <a:ext cx="11018083" cy="42055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82215" y="3434723"/>
            <a:ext cx="3720703" cy="3720703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A4907C"/>
          </a:solid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5544103" y="8488835"/>
            <a:ext cx="1209546" cy="1209546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A4907C"/>
          </a:solidFill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82215" y="1028700"/>
            <a:ext cx="6191268" cy="1974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80"/>
              </a:lnSpc>
            </a:pPr>
            <a:r>
              <a:rPr lang="en-US" sz="6400" b="1" spc="320" dirty="0"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DATASET ANALYSIS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682047" y="1381926"/>
            <a:ext cx="346195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39"/>
              </a:lnSpc>
            </a:pPr>
            <a:r>
              <a:rPr lang="en-US" sz="4000" b="1" spc="27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DATASET</a:t>
            </a:r>
          </a:p>
          <a:p>
            <a:pPr marL="0" lvl="0" indent="0" algn="r">
              <a:lnSpc>
                <a:spcPts val="3639"/>
              </a:lnSpc>
            </a:pPr>
            <a:r>
              <a:rPr lang="en-US" sz="4000" b="1" spc="27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OVERVIEW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82047" y="4250736"/>
            <a:ext cx="346195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639"/>
              </a:lnSpc>
            </a:pPr>
            <a:r>
              <a:rPr lang="en-US" sz="4000" b="1" spc="27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CATEGORY</a:t>
            </a:r>
          </a:p>
          <a:p>
            <a:pPr marL="0" lvl="0" indent="0" algn="r">
              <a:lnSpc>
                <a:spcPts val="3639"/>
              </a:lnSpc>
            </a:pPr>
            <a:r>
              <a:rPr lang="en-US" sz="4000" b="1" spc="279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Futura Bold"/>
                <a:cs typeface="Times New Roman" panose="02020603050405020304" pitchFamily="18" charset="0"/>
                <a:sym typeface="Futura Bold"/>
              </a:rPr>
              <a:t> TYPES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486901" y="1258739"/>
            <a:ext cx="7772399" cy="20928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consists a training set with 4,352 samples and a testing set with 544 samples,  with uneven class distribution. </a:t>
            </a:r>
            <a:r>
              <a:rPr lang="en-US" sz="28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(that may result in less accurate classification.</a:t>
            </a:r>
            <a:r>
              <a:rPr lang="en-US" sz="2800" spc="12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Futura"/>
              </a:rPr>
              <a:t>)</a:t>
            </a:r>
            <a:endParaRPr lang="en-US" sz="28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455984" y="4192181"/>
            <a:ext cx="7962899" cy="38779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🔴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Negative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Criticism or Disapproval.</a:t>
            </a:r>
          </a:p>
          <a:p>
            <a:pPr algn="just"/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✅ 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Approval or Agreement.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🔍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Substantiated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Well-supported claims 💬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Opinionated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Strong personal views.</a:t>
            </a:r>
          </a:p>
          <a:p>
            <a:pPr algn="just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😏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Sarcastic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Irony or Mockery.</a:t>
            </a:r>
          </a:p>
          <a:p>
            <a:pPr algn="just"/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⚖   </a:t>
            </a: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Neutral</a:t>
            </a:r>
            <a:r>
              <a:rPr lang="en-I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– Unbiased or Factual.</a:t>
            </a:r>
            <a:endParaRPr 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❓ </a:t>
            </a:r>
            <a:r>
              <a:rPr 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None of the above</a:t>
            </a: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098" name="Picture 2" descr="This may contain: a woman holding a pink megaphone in her right hand and shouting into the other">
            <a:extLst>
              <a:ext uri="{FF2B5EF4-FFF2-40B4-BE49-F238E27FC236}">
                <a16:creationId xmlns:a16="http://schemas.microsoft.com/office/drawing/2014/main" id="{D1CC6084-F826-B624-AE25-D9205876ED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687496">
            <a:off x="1528146" y="4364381"/>
            <a:ext cx="5334000" cy="53340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11187B-4C55-4040-2925-8A79C6F32620}"/>
              </a:ext>
            </a:extLst>
          </p:cNvPr>
          <p:cNvSpPr txBox="1"/>
          <p:nvPr/>
        </p:nvSpPr>
        <p:spPr>
          <a:xfrm>
            <a:off x="1219200" y="982133"/>
            <a:ext cx="13936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FLOWCHART</a:t>
            </a:r>
            <a:endParaRPr lang="en-IN" sz="6000" b="1" dirty="0">
              <a:solidFill>
                <a:srgbClr val="66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AD2420-71CF-7725-C253-9E46598BC6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2677257"/>
            <a:ext cx="15697200" cy="5331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135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8DB86-6A70-907F-5339-A4E081B54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B9412F57-5FD2-6C17-9CAA-89CCE2721802}"/>
              </a:ext>
            </a:extLst>
          </p:cNvPr>
          <p:cNvSpPr txBox="1"/>
          <p:nvPr/>
        </p:nvSpPr>
        <p:spPr>
          <a:xfrm>
            <a:off x="1028700" y="699606"/>
            <a:ext cx="16230600" cy="2266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IN" sz="66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</a:t>
            </a:r>
            <a:endParaRPr lang="en-IN" sz="6600" dirty="0">
              <a:solidFill>
                <a:srgbClr val="66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8960"/>
              </a:lnSpc>
              <a:spcBef>
                <a:spcPct val="0"/>
              </a:spcBef>
            </a:pPr>
            <a:endParaRPr lang="en-US" sz="6400" spc="320" dirty="0">
              <a:solidFill>
                <a:srgbClr val="6633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366CDA8D-0805-35ED-4243-58B43441E549}"/>
              </a:ext>
            </a:extLst>
          </p:cNvPr>
          <p:cNvSpPr/>
          <p:nvPr/>
        </p:nvSpPr>
        <p:spPr>
          <a:xfrm>
            <a:off x="1028700" y="2010936"/>
            <a:ext cx="16230600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5C4EBDD-726F-20BA-1DE5-F3AB78858417}"/>
              </a:ext>
            </a:extLst>
          </p:cNvPr>
          <p:cNvSpPr txBox="1"/>
          <p:nvPr/>
        </p:nvSpPr>
        <p:spPr>
          <a:xfrm>
            <a:off x="1063255" y="2582839"/>
            <a:ext cx="9689411" cy="6771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Imbalanced data leads to biased predictions.</a:t>
            </a: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Issues: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Overrepresented classes dominate.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Underrepresented classes might get low recall.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learns biased decision boundaries.</a:t>
            </a: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(SMOTE-Tomek):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SMOTE generates synthetic samples for minority classes.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Tomek Links removes borderline samples to refine boundaries.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Balanced data improves classifier performance, reduces bias, and enhances generalization across emotions.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6AC0BC-A7D6-13FC-8F86-A74B56FA9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3653" y="3322267"/>
            <a:ext cx="6943293" cy="4797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278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6D712F-B653-D466-1EA9-EA37EF389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FE0D23F6-D8CD-9E96-46C7-3973EC31B0F1}"/>
              </a:ext>
            </a:extLst>
          </p:cNvPr>
          <p:cNvGrpSpPr/>
          <p:nvPr/>
        </p:nvGrpSpPr>
        <p:grpSpPr>
          <a:xfrm>
            <a:off x="11984903" y="6337862"/>
            <a:ext cx="2724448" cy="2724448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0AD0084-7813-3C1A-7E4D-C8E18F27A93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0B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0FFCDE7-00A7-0CE6-7583-0169C887BAE9}"/>
                </a:ext>
              </a:extLst>
            </p:cNvPr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1B29267-6C4D-5B77-C0CB-D48E61D4CE89}"/>
              </a:ext>
            </a:extLst>
          </p:cNvPr>
          <p:cNvSpPr txBox="1"/>
          <p:nvPr/>
        </p:nvSpPr>
        <p:spPr>
          <a:xfrm>
            <a:off x="1028700" y="699606"/>
            <a:ext cx="16230600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  <a:spcBef>
                <a:spcPct val="0"/>
              </a:spcBef>
            </a:pPr>
            <a:r>
              <a:rPr lang="en-US" sz="6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</a:rPr>
              <a:t>BERT-</a:t>
            </a:r>
            <a:r>
              <a:rPr lang="en-US" sz="12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 </a:t>
            </a:r>
            <a:r>
              <a:rPr lang="en-US" sz="32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Bidirectional Encoder Representations from Transformers</a:t>
            </a:r>
            <a:endParaRPr lang="en-US" sz="3600" b="1" spc="320" dirty="0">
              <a:solidFill>
                <a:srgbClr val="6633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53A5E269-EF13-89B7-6B6B-368A3FD5C346}"/>
              </a:ext>
            </a:extLst>
          </p:cNvPr>
          <p:cNvSpPr/>
          <p:nvPr/>
        </p:nvSpPr>
        <p:spPr>
          <a:xfrm>
            <a:off x="1028700" y="2010936"/>
            <a:ext cx="16230600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B54E419-4650-9D86-B16C-21D7F30B8E84}"/>
              </a:ext>
            </a:extLst>
          </p:cNvPr>
          <p:cNvGrpSpPr/>
          <p:nvPr/>
        </p:nvGrpSpPr>
        <p:grpSpPr>
          <a:xfrm>
            <a:off x="11981586" y="4229032"/>
            <a:ext cx="2724448" cy="2820229"/>
            <a:chOff x="8736925" y="8245326"/>
            <a:chExt cx="812800" cy="841375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F3F471FA-701E-E42B-6076-D7F40FE0A4FB}"/>
                </a:ext>
              </a:extLst>
            </p:cNvPr>
            <p:cNvSpPr/>
            <p:nvPr/>
          </p:nvSpPr>
          <p:spPr>
            <a:xfrm>
              <a:off x="8736925" y="827390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0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1F869906-B86C-C4FB-8F88-B00354236032}"/>
                </a:ext>
              </a:extLst>
            </p:cNvPr>
            <p:cNvSpPr txBox="1"/>
            <p:nvPr/>
          </p:nvSpPr>
          <p:spPr>
            <a:xfrm>
              <a:off x="8813125" y="8245326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C3AE757-892B-5AE8-2671-F77A5FF59CEE}"/>
              </a:ext>
            </a:extLst>
          </p:cNvPr>
          <p:cNvSpPr txBox="1"/>
          <p:nvPr/>
        </p:nvSpPr>
        <p:spPr>
          <a:xfrm>
            <a:off x="1237768" y="3293512"/>
            <a:ext cx="9817334" cy="56938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GB" sz="2800" dirty="0">
                <a:solidFill>
                  <a:srgbClr val="001D35"/>
                </a:solidFill>
                <a:latin typeface="Times New Roman"/>
                <a:ea typeface="+mn-lt"/>
                <a:cs typeface="+mn-lt"/>
              </a:rPr>
              <a:t>BERT (Bidirectional Encoder Representations from Transformers) is a machine learning model developed by Google for natural language processing (NLP) tasks.</a:t>
            </a:r>
            <a:endParaRPr lang="en-GB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GB" sz="2800" dirty="0">
              <a:solidFill>
                <a:srgbClr val="001D35"/>
              </a:solidFill>
              <a:latin typeface="Times New Roman"/>
              <a:ea typeface="+mn-lt"/>
              <a:cs typeface="+mn-lt"/>
            </a:endParaRPr>
          </a:p>
          <a:p>
            <a:pPr algn="just"/>
            <a:r>
              <a:rPr lang="en-GB" sz="2800" dirty="0">
                <a:solidFill>
                  <a:srgbClr val="001D35"/>
                </a:solidFill>
                <a:latin typeface="Times New Roman"/>
                <a:ea typeface="+mn-lt"/>
                <a:cs typeface="+mn-lt"/>
              </a:rPr>
              <a:t>It uses a transformer-based architecture to understand the context of words in a sentence by analysing them bidirectionally (both left and right). </a:t>
            </a:r>
            <a:endParaRPr lang="en-GB" sz="2800" dirty="0">
              <a:solidFill>
                <a:srgbClr val="000000"/>
              </a:solidFill>
              <a:latin typeface="Times New Roman"/>
              <a:ea typeface="+mn-lt"/>
              <a:cs typeface="+mn-lt"/>
            </a:endParaRPr>
          </a:p>
          <a:p>
            <a:pPr algn="just"/>
            <a:endParaRPr lang="en-GB" sz="2800" dirty="0">
              <a:solidFill>
                <a:srgbClr val="001D35"/>
              </a:solidFill>
              <a:latin typeface="Times New Roman"/>
              <a:ea typeface="+mn-lt"/>
              <a:cs typeface="+mn-lt"/>
            </a:endParaRPr>
          </a:p>
          <a:p>
            <a:pPr algn="just"/>
            <a:r>
              <a:rPr lang="en-GB" sz="2800" dirty="0">
                <a:solidFill>
                  <a:srgbClr val="001D35"/>
                </a:solidFill>
                <a:latin typeface="Times New Roman"/>
                <a:ea typeface="+mn-lt"/>
                <a:cs typeface="+mn-lt"/>
              </a:rPr>
              <a:t>BERT is pre-trained on large text corpora and can be fine-tuned for specific tasks like sentiment analysis, question answering, and text classification. Its bidirectional nature allows it to capture more nuanced language meanings compared to traditional models.</a:t>
            </a:r>
            <a:endParaRPr lang="en-GB" sz="2800" dirty="0">
              <a:latin typeface="Times New Roman"/>
              <a:cs typeface="Times New Roman"/>
            </a:endParaRPr>
          </a:p>
          <a:p>
            <a:pPr algn="just"/>
            <a:endParaRPr lang="en-GB" sz="2800" dirty="0">
              <a:solidFill>
                <a:srgbClr val="001D35"/>
              </a:solidFill>
              <a:latin typeface="Times New Roman"/>
              <a:ea typeface="Calibri"/>
              <a:cs typeface="Calibri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3F68C1-3EE2-96C8-26EB-C412589B3D57}"/>
              </a:ext>
            </a:extLst>
          </p:cNvPr>
          <p:cNvGrpSpPr/>
          <p:nvPr/>
        </p:nvGrpSpPr>
        <p:grpSpPr>
          <a:xfrm>
            <a:off x="11964526" y="2301285"/>
            <a:ext cx="2724448" cy="2820229"/>
            <a:chOff x="8736925" y="8245326"/>
            <a:chExt cx="812800" cy="841375"/>
          </a:xfrm>
        </p:grpSpPr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F4BAC98F-B6B8-501E-739E-79FFE3A9BA4A}"/>
                </a:ext>
              </a:extLst>
            </p:cNvPr>
            <p:cNvSpPr/>
            <p:nvPr/>
          </p:nvSpPr>
          <p:spPr>
            <a:xfrm>
              <a:off x="8736925" y="827390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0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0513FFE3-0585-04D4-6440-DA828E13DDA3}"/>
                </a:ext>
              </a:extLst>
            </p:cNvPr>
            <p:cNvSpPr txBox="1"/>
            <p:nvPr/>
          </p:nvSpPr>
          <p:spPr>
            <a:xfrm>
              <a:off x="8813125" y="8245326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pic>
        <p:nvPicPr>
          <p:cNvPr id="13" name="Picture 12" descr="Bert | Muppet Wiki | Fandom">
            <a:extLst>
              <a:ext uri="{FF2B5EF4-FFF2-40B4-BE49-F238E27FC236}">
                <a16:creationId xmlns:a16="http://schemas.microsoft.com/office/drawing/2014/main" id="{539B4602-A875-ECB1-8D5F-CCAEA29F0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914" y="1764274"/>
            <a:ext cx="5289829" cy="851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783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ncoder-Decoder model for Machine Translation | by Jaimin Mungalpara | Nerd  For Tech | Medium">
            <a:extLst>
              <a:ext uri="{FF2B5EF4-FFF2-40B4-BE49-F238E27FC236}">
                <a16:creationId xmlns:a16="http://schemas.microsoft.com/office/drawing/2014/main" id="{9B28B9B7-6E22-5213-B1DF-7B382E2C87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3217" y="579742"/>
            <a:ext cx="10377655" cy="1905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2">
            <a:extLst>
              <a:ext uri="{FF2B5EF4-FFF2-40B4-BE49-F238E27FC236}">
                <a16:creationId xmlns:a16="http://schemas.microsoft.com/office/drawing/2014/main" id="{2817AAD5-70D6-3D60-3D36-DF4204F26AC9}"/>
              </a:ext>
            </a:extLst>
          </p:cNvPr>
          <p:cNvSpPr txBox="1"/>
          <p:nvPr/>
        </p:nvSpPr>
        <p:spPr>
          <a:xfrm>
            <a:off x="1028700" y="699606"/>
            <a:ext cx="16230600" cy="1057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  <a:spcBef>
                <a:spcPct val="0"/>
              </a:spcBef>
            </a:pPr>
            <a:r>
              <a:rPr lang="en-US" sz="6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</a:rPr>
              <a:t>Why BERT?</a:t>
            </a:r>
            <a:endParaRPr lang="en-US" sz="3600" b="1" spc="320" dirty="0">
              <a:solidFill>
                <a:srgbClr val="6633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D422F-9B85-9ABA-DE9B-4059E687CF6D}"/>
              </a:ext>
            </a:extLst>
          </p:cNvPr>
          <p:cNvSpPr txBox="1"/>
          <p:nvPr/>
        </p:nvSpPr>
        <p:spPr>
          <a:xfrm>
            <a:off x="7031567" y="2663714"/>
            <a:ext cx="10227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A transformer model used for translation tasks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An overview of the stacked encoder–decoder transformer model (SEDT),... |  Download Scientific Diagram">
            <a:extLst>
              <a:ext uri="{FF2B5EF4-FFF2-40B4-BE49-F238E27FC236}">
                <a16:creationId xmlns:a16="http://schemas.microsoft.com/office/drawing/2014/main" id="{03EE2553-BDFC-5C77-B3D7-3C898242F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6609" y="3617933"/>
            <a:ext cx="3350704" cy="286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An overview of the stacked encoder–decoder transformer model (SEDT),... |  Download Scientific Diagram">
            <a:extLst>
              <a:ext uri="{FF2B5EF4-FFF2-40B4-BE49-F238E27FC236}">
                <a16:creationId xmlns:a16="http://schemas.microsoft.com/office/drawing/2014/main" id="{DC92477F-9A35-EA0D-4CC0-4B2850BEE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2" t="13818" r="55838"/>
          <a:stretch/>
        </p:blipFill>
        <p:spPr bwMode="auto">
          <a:xfrm rot="5400000">
            <a:off x="5541261" y="315751"/>
            <a:ext cx="3142855" cy="9191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50491EE-4230-75BF-3275-F4745C13C508}"/>
              </a:ext>
            </a:extLst>
          </p:cNvPr>
          <p:cNvSpPr txBox="1"/>
          <p:nvPr/>
        </p:nvSpPr>
        <p:spPr>
          <a:xfrm>
            <a:off x="1642921" y="7240387"/>
            <a:ext cx="107772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Encoder Layers: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self-attention and feedforward layers to process input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bidirectionally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allowing the model to capture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 from both past and future words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4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BERT, 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self-attention allows the model to weigh the importance of different words in a sentence to understand context, while feedforward layers process the attention-weighted representations to generate higher-level features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Arrow: Curved Up 49">
            <a:extLst>
              <a:ext uri="{FF2B5EF4-FFF2-40B4-BE49-F238E27FC236}">
                <a16:creationId xmlns:a16="http://schemas.microsoft.com/office/drawing/2014/main" id="{27BE00E0-7222-2CB5-5388-9A90478469B6}"/>
              </a:ext>
            </a:extLst>
          </p:cNvPr>
          <p:cNvSpPr/>
          <p:nvPr/>
        </p:nvSpPr>
        <p:spPr>
          <a:xfrm rot="10800000">
            <a:off x="11449877" y="3790648"/>
            <a:ext cx="2345635" cy="1116034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8416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DAFFEA-2234-B3A1-9BFB-044DF4278127}"/>
              </a:ext>
            </a:extLst>
          </p:cNvPr>
          <p:cNvSpPr txBox="1"/>
          <p:nvPr/>
        </p:nvSpPr>
        <p:spPr>
          <a:xfrm>
            <a:off x="570593" y="709318"/>
            <a:ext cx="1332411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BERT Embeddings</a:t>
            </a:r>
            <a:endParaRPr lang="en-IN" sz="6600" b="1" dirty="0">
              <a:solidFill>
                <a:srgbClr val="66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528AC7-4D2C-F874-FEE0-DA4BB8A82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541" y="2533285"/>
            <a:ext cx="16432918" cy="52204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182BD6F-730B-69EB-4F45-4B0FCF832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511" y="8460547"/>
            <a:ext cx="2514951" cy="4191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F61DC0-1A3E-AE05-DC2C-F314AA325BF5}"/>
              </a:ext>
            </a:extLst>
          </p:cNvPr>
          <p:cNvSpPr txBox="1"/>
          <p:nvPr/>
        </p:nvSpPr>
        <p:spPr>
          <a:xfrm>
            <a:off x="1236133" y="8192687"/>
            <a:ext cx="85174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Representation: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token embeddings, positional encodings, and segment embeddings:</a:t>
            </a:r>
          </a:p>
          <a:p>
            <a:pPr algn="just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504958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0B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FAA6A76-C8B7-7175-CB29-BC7317FBD5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818004"/>
            <a:ext cx="5642707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BAD6742-F96C-D3AA-A26B-059557F4DF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4750327"/>
              </p:ext>
            </p:extLst>
          </p:nvPr>
        </p:nvGraphicFramePr>
        <p:xfrm>
          <a:off x="1914144" y="1809845"/>
          <a:ext cx="14142720" cy="6974840"/>
        </p:xfrm>
        <a:graphic>
          <a:graphicData uri="http://schemas.openxmlformats.org/drawingml/2006/table">
            <a:tbl>
              <a:tblPr/>
              <a:tblGrid>
                <a:gridCol w="4714240">
                  <a:extLst>
                    <a:ext uri="{9D8B030D-6E8A-4147-A177-3AD203B41FA5}">
                      <a16:colId xmlns:a16="http://schemas.microsoft.com/office/drawing/2014/main" val="2133312240"/>
                    </a:ext>
                  </a:extLst>
                </a:gridCol>
                <a:gridCol w="3943643">
                  <a:extLst>
                    <a:ext uri="{9D8B030D-6E8A-4147-A177-3AD203B41FA5}">
                      <a16:colId xmlns:a16="http://schemas.microsoft.com/office/drawing/2014/main" val="2815736195"/>
                    </a:ext>
                  </a:extLst>
                </a:gridCol>
                <a:gridCol w="5484837">
                  <a:extLst>
                    <a:ext uri="{9D8B030D-6E8A-4147-A177-3AD203B41FA5}">
                      <a16:colId xmlns:a16="http://schemas.microsoft.com/office/drawing/2014/main" val="1288638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IN" sz="3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</a:t>
                      </a:r>
                      <a:endParaRPr lang="en-IN" sz="32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Tasks</a:t>
                      </a:r>
                      <a:endParaRPr lang="en-IN" sz="3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5606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  <a:endParaRPr lang="en-IN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1-2</a:t>
                      </a:r>
                      <a:endParaRPr lang="en-IN" sz="32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&amp; finalize methodology, consult with mentors.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7258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 overview, Feature Extraction and Analysis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3-4</a:t>
                      </a:r>
                      <a:endParaRPr lang="en-IN" sz="32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Clean dataset, generate TF-IDF or BERT embeddings, or fuse embeddings.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7650971"/>
                  </a:ext>
                </a:extLst>
              </a:tr>
              <a:tr h="690182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Training &amp; Fine-Tuning</a:t>
                      </a:r>
                      <a:endParaRPr lang="en-IN" sz="32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Weeks 5 -15</a:t>
                      </a:r>
                      <a:endParaRPr lang="en-IN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 models, fine-tune and optimize hyperparameters, experiment with alternatives.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31255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Experimental Insights Reporting</a:t>
                      </a:r>
                      <a:endParaRPr lang="en-IN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IN" sz="32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15 - 20</a:t>
                      </a:r>
                      <a:endParaRPr lang="en-IN" sz="3200" b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3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 and analyze metrics, create visualizations, document findings.</a:t>
                      </a:r>
                      <a:endParaRPr lang="en-US" sz="3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5991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DDD7CF62-074F-60E1-FB4B-84E51C3AB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120900"/>
            <a:ext cx="18288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2CFAB8EE-6E9D-216D-8620-7C566B96E88C}"/>
              </a:ext>
            </a:extLst>
          </p:cNvPr>
          <p:cNvSpPr txBox="1"/>
          <p:nvPr/>
        </p:nvSpPr>
        <p:spPr>
          <a:xfrm>
            <a:off x="987762" y="511659"/>
            <a:ext cx="9208506" cy="990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8320"/>
              </a:lnSpc>
            </a:pPr>
            <a:r>
              <a:rPr lang="en-US" sz="6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1145108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9425F5-F382-298E-52D2-4C6C4DD51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020867F4-A7DD-4348-832F-3EA6A10D3DE1}"/>
              </a:ext>
            </a:extLst>
          </p:cNvPr>
          <p:cNvGrpSpPr/>
          <p:nvPr/>
        </p:nvGrpSpPr>
        <p:grpSpPr>
          <a:xfrm>
            <a:off x="-563616" y="1876284"/>
            <a:ext cx="2724448" cy="2724448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F58ADB3-43AE-8090-1BE2-4161435B6C0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0B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7D2A031-4599-9832-FF74-04D600AC2FDE}"/>
                </a:ext>
              </a:extLst>
            </p:cNvPr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C68F9C5D-293A-A074-461A-F53560CB4447}"/>
              </a:ext>
            </a:extLst>
          </p:cNvPr>
          <p:cNvSpPr txBox="1"/>
          <p:nvPr/>
        </p:nvSpPr>
        <p:spPr>
          <a:xfrm>
            <a:off x="1028700" y="699606"/>
            <a:ext cx="16230600" cy="22121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1: </a:t>
            </a:r>
            <a:r>
              <a:rPr lang="en-US" sz="54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 &amp; Understanding</a:t>
            </a:r>
            <a:endParaRPr lang="en-US" sz="6600" b="1" dirty="0">
              <a:solidFill>
                <a:srgbClr val="66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ts val="8960"/>
              </a:lnSpc>
              <a:spcBef>
                <a:spcPct val="0"/>
              </a:spcBef>
            </a:pPr>
            <a:endParaRPr lang="en-US" sz="6400" b="1" spc="320" dirty="0">
              <a:solidFill>
                <a:srgbClr val="6633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FD7B0617-75A1-C242-EE79-3F98E0AA7392}"/>
              </a:ext>
            </a:extLst>
          </p:cNvPr>
          <p:cNvSpPr/>
          <p:nvPr/>
        </p:nvSpPr>
        <p:spPr>
          <a:xfrm>
            <a:off x="1159329" y="1979254"/>
            <a:ext cx="16230600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AB2EA2F-B5A9-6FBB-E935-ABB20686E4ED}"/>
              </a:ext>
            </a:extLst>
          </p:cNvPr>
          <p:cNvGrpSpPr/>
          <p:nvPr/>
        </p:nvGrpSpPr>
        <p:grpSpPr>
          <a:xfrm>
            <a:off x="15697358" y="1975087"/>
            <a:ext cx="2724448" cy="2820229"/>
            <a:chOff x="8736925" y="8245326"/>
            <a:chExt cx="812800" cy="841375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44476861-75D4-EEF0-BD9A-8C9D2FDA4777}"/>
                </a:ext>
              </a:extLst>
            </p:cNvPr>
            <p:cNvSpPr/>
            <p:nvPr/>
          </p:nvSpPr>
          <p:spPr>
            <a:xfrm>
              <a:off x="8736925" y="827390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0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837E279E-69BD-E1B5-C7FA-25C8C39E79FE}"/>
                </a:ext>
              </a:extLst>
            </p:cNvPr>
            <p:cNvSpPr txBox="1"/>
            <p:nvPr/>
          </p:nvSpPr>
          <p:spPr>
            <a:xfrm>
              <a:off x="8813125" y="8245326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Freeform 8">
            <a:extLst>
              <a:ext uri="{FF2B5EF4-FFF2-40B4-BE49-F238E27FC236}">
                <a16:creationId xmlns:a16="http://schemas.microsoft.com/office/drawing/2014/main" id="{8614C77B-6F7A-FAAF-1346-DAF996DABC55}"/>
              </a:ext>
            </a:extLst>
          </p:cNvPr>
          <p:cNvSpPr/>
          <p:nvPr/>
        </p:nvSpPr>
        <p:spPr>
          <a:xfrm>
            <a:off x="7305850" y="2020189"/>
            <a:ext cx="2724448" cy="272444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ED0B6"/>
          </a:solidFill>
        </p:spPr>
        <p:txBody>
          <a:bodyPr/>
          <a:lstStyle/>
          <a:p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7DAB078-0CD4-58BE-E368-02792CF83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328" y="2665369"/>
            <a:ext cx="5576364" cy="400906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9AF39A4-2FAD-495C-0AB4-D50C42FFF2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200" y="2665855"/>
            <a:ext cx="5576364" cy="400857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C390352-CB63-F116-2CD2-07DED4421A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56336" y="2665854"/>
            <a:ext cx="5756617" cy="40085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586D07-6BD3-975C-18F3-0F01DCED4F2F}"/>
              </a:ext>
            </a:extLst>
          </p:cNvPr>
          <p:cNvSpPr txBox="1"/>
          <p:nvPr/>
        </p:nvSpPr>
        <p:spPr>
          <a:xfrm>
            <a:off x="5870955" y="6738775"/>
            <a:ext cx="666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Performance Metrics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4F136B-ACC0-D056-01EA-1D904E2F81A8}"/>
              </a:ext>
            </a:extLst>
          </p:cNvPr>
          <p:cNvSpPr txBox="1"/>
          <p:nvPr/>
        </p:nvSpPr>
        <p:spPr>
          <a:xfrm>
            <a:off x="12366977" y="6722123"/>
            <a:ext cx="666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Classifier Performance Metrics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CBED172-05BD-F5A5-CD78-BCED86CDF4CA}"/>
              </a:ext>
            </a:extLst>
          </p:cNvPr>
          <p:cNvSpPr txBox="1"/>
          <p:nvPr/>
        </p:nvSpPr>
        <p:spPr>
          <a:xfrm>
            <a:off x="411961" y="6712347"/>
            <a:ext cx="666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Classifier Performance Metrics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E7B47403-BA41-F583-ABFB-948C109A5330}"/>
                  </a:ext>
                </a:extLst>
              </p14:cNvPr>
              <p14:cNvContentPartPr/>
              <p14:nvPr/>
            </p14:nvContentPartPr>
            <p14:xfrm>
              <a:off x="6409068" y="2961032"/>
              <a:ext cx="1908360" cy="69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E7B47403-BA41-F583-ABFB-948C109A533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346068" y="2898032"/>
                <a:ext cx="2034000" cy="19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A997D45-0D3B-93E2-E75A-AA6C6A2ECFE8}"/>
                  </a:ext>
                </a:extLst>
              </p14:cNvPr>
              <p14:cNvContentPartPr/>
              <p14:nvPr/>
            </p14:nvContentPartPr>
            <p14:xfrm>
              <a:off x="8304701" y="2973852"/>
              <a:ext cx="1932480" cy="147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A997D45-0D3B-93E2-E75A-AA6C6A2ECFE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41701" y="2911212"/>
                <a:ext cx="205812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8B9036D2-B9C3-3A0B-AA87-2119A408F7AA}"/>
                  </a:ext>
                </a:extLst>
              </p14:cNvPr>
              <p14:cNvContentPartPr/>
              <p14:nvPr/>
            </p14:nvContentPartPr>
            <p14:xfrm>
              <a:off x="10287941" y="3024252"/>
              <a:ext cx="1381680" cy="198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8B9036D2-B9C3-3A0B-AA87-2119A408F7A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0224941" y="2961612"/>
                <a:ext cx="1507320" cy="145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A395470C-E6AC-3436-29E7-3964B22F6E8E}"/>
              </a:ext>
            </a:extLst>
          </p:cNvPr>
          <p:cNvGrpSpPr/>
          <p:nvPr/>
        </p:nvGrpSpPr>
        <p:grpSpPr>
          <a:xfrm>
            <a:off x="6411821" y="4730024"/>
            <a:ext cx="5279040" cy="142200"/>
            <a:chOff x="6318620" y="7000392"/>
            <a:chExt cx="5279040" cy="14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1998EC5-BDCB-4A94-4EBA-F9B7CB3506CA}"/>
                    </a:ext>
                  </a:extLst>
                </p14:cNvPr>
                <p14:cNvContentPartPr/>
                <p14:nvPr/>
              </p14:nvContentPartPr>
              <p14:xfrm>
                <a:off x="6318620" y="7118832"/>
                <a:ext cx="1501920" cy="5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1998EC5-BDCB-4A94-4EBA-F9B7CB3506C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255980" y="7055832"/>
                  <a:ext cx="162756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2C6E46F-9C84-829F-904A-00611DAE9FE9}"/>
                    </a:ext>
                  </a:extLst>
                </p14:cNvPr>
                <p14:cNvContentPartPr/>
                <p14:nvPr/>
              </p14:nvContentPartPr>
              <p14:xfrm>
                <a:off x="7838180" y="7119552"/>
                <a:ext cx="1377360" cy="23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2C6E46F-9C84-829F-904A-00611DAE9F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75180" y="7056552"/>
                  <a:ext cx="15030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243ED81-700E-9E0B-538C-6F2043322193}"/>
                    </a:ext>
                  </a:extLst>
                </p14:cNvPr>
                <p14:cNvContentPartPr/>
                <p14:nvPr/>
              </p14:nvContentPartPr>
              <p14:xfrm>
                <a:off x="9166580" y="7000392"/>
                <a:ext cx="1428120" cy="114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243ED81-700E-9E0B-538C-6F204332219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03940" y="6937752"/>
                  <a:ext cx="155376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43D582F-4FAB-A88B-B823-4A89E8C67F73}"/>
                    </a:ext>
                  </a:extLst>
                </p14:cNvPr>
                <p14:cNvContentPartPr/>
                <p14:nvPr/>
              </p14:nvContentPartPr>
              <p14:xfrm>
                <a:off x="10331180" y="7109832"/>
                <a:ext cx="1266480" cy="19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43D582F-4FAB-A88B-B823-4A89E8C67F7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268180" y="7047192"/>
                  <a:ext cx="139212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1BF38F9-5655-C1C8-52BA-F1BCC0F5791E}"/>
                  </a:ext>
                </a:extLst>
              </p14:cNvPr>
              <p14:cNvContentPartPr/>
              <p14:nvPr/>
            </p14:nvContentPartPr>
            <p14:xfrm>
              <a:off x="6348101" y="5572316"/>
              <a:ext cx="4320000" cy="640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1BF38F9-5655-C1C8-52BA-F1BCC0F5791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285461" y="5509316"/>
                <a:ext cx="4445640" cy="18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9355BED-CB7D-3381-C47B-762F6678B5DB}"/>
                  </a:ext>
                </a:extLst>
              </p14:cNvPr>
              <p14:cNvContentPartPr/>
              <p14:nvPr/>
            </p14:nvContentPartPr>
            <p14:xfrm>
              <a:off x="10033061" y="5458196"/>
              <a:ext cx="1693800" cy="100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9355BED-CB7D-3381-C47B-762F6678B5DB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970421" y="5395196"/>
                <a:ext cx="1819440" cy="22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05D0CC70-9DF4-FEF2-01E1-027F22C40224}"/>
              </a:ext>
            </a:extLst>
          </p:cNvPr>
          <p:cNvGrpSpPr/>
          <p:nvPr/>
        </p:nvGrpSpPr>
        <p:grpSpPr>
          <a:xfrm>
            <a:off x="12315316" y="5640596"/>
            <a:ext cx="4377960" cy="60120"/>
            <a:chOff x="12173853" y="5398886"/>
            <a:chExt cx="4377960" cy="6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C64D729-A7B1-D0E4-585D-676ED823899A}"/>
                    </a:ext>
                  </a:extLst>
                </p14:cNvPr>
                <p14:cNvContentPartPr/>
                <p14:nvPr/>
              </p14:nvContentPartPr>
              <p14:xfrm>
                <a:off x="12173853" y="5399606"/>
                <a:ext cx="1213560" cy="1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C64D729-A7B1-D0E4-585D-676ED823899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2110853" y="5336966"/>
                  <a:ext cx="13392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7E27DA1-583F-22C4-D466-50AB87C6C76B}"/>
                    </a:ext>
                  </a:extLst>
                </p14:cNvPr>
                <p14:cNvContentPartPr/>
                <p14:nvPr/>
              </p14:nvContentPartPr>
              <p14:xfrm>
                <a:off x="13429173" y="5422286"/>
                <a:ext cx="1429560" cy="36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7E27DA1-583F-22C4-D466-50AB87C6C76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366533" y="5359646"/>
                  <a:ext cx="15552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04E299E-BDEF-8F00-ED1F-B7D9F3A57CCF}"/>
                    </a:ext>
                  </a:extLst>
                </p14:cNvPr>
                <p14:cNvContentPartPr/>
                <p14:nvPr/>
              </p14:nvContentPartPr>
              <p14:xfrm>
                <a:off x="14921373" y="5398886"/>
                <a:ext cx="1630440" cy="381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04E299E-BDEF-8F00-ED1F-B7D9F3A57CC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858373" y="5336246"/>
                  <a:ext cx="1756080" cy="163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CA68B49-0955-1EB2-6A15-4CA31D09412E}"/>
                  </a:ext>
                </a:extLst>
              </p14:cNvPr>
              <p14:cNvContentPartPr/>
              <p14:nvPr/>
            </p14:nvContentPartPr>
            <p14:xfrm>
              <a:off x="16814236" y="5604596"/>
              <a:ext cx="1024560" cy="1908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CA68B49-0955-1EB2-6A15-4CA31D09412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6751236" y="5541956"/>
                <a:ext cx="115020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36092DD7-FD7E-FEE4-35B2-D7FD11603AE6}"/>
              </a:ext>
            </a:extLst>
          </p:cNvPr>
          <p:cNvGrpSpPr/>
          <p:nvPr/>
        </p:nvGrpSpPr>
        <p:grpSpPr>
          <a:xfrm>
            <a:off x="12274276" y="4918076"/>
            <a:ext cx="5430600" cy="50760"/>
            <a:chOff x="12132813" y="4676366"/>
            <a:chExt cx="5430600" cy="5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8112DC8-5F79-6C43-318F-7331B41F4FDC}"/>
                    </a:ext>
                  </a:extLst>
                </p14:cNvPr>
                <p14:cNvContentPartPr/>
                <p14:nvPr/>
              </p14:nvContentPartPr>
              <p14:xfrm>
                <a:off x="12132813" y="4698686"/>
                <a:ext cx="1531080" cy="5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8112DC8-5F79-6C43-318F-7331B41F4F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69813" y="4635686"/>
                  <a:ext cx="165672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E4AB461-F515-A534-5BA6-7594E988F326}"/>
                    </a:ext>
                  </a:extLst>
                </p14:cNvPr>
                <p14:cNvContentPartPr/>
                <p14:nvPr/>
              </p14:nvContentPartPr>
              <p14:xfrm>
                <a:off x="13715733" y="4676366"/>
                <a:ext cx="1688400" cy="42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E4AB461-F515-A534-5BA6-7594E988F32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3653093" y="4613726"/>
                  <a:ext cx="1814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7C2CDD-0D66-6A33-0CC9-41BBF13F34D0}"/>
                    </a:ext>
                  </a:extLst>
                </p14:cNvPr>
                <p14:cNvContentPartPr/>
                <p14:nvPr/>
              </p14:nvContentPartPr>
              <p14:xfrm>
                <a:off x="15489813" y="4722086"/>
                <a:ext cx="2073600" cy="5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7C2CDD-0D66-6A33-0CC9-41BBF13F34D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5427173" y="4659086"/>
                  <a:ext cx="2199240" cy="130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28DFD675-E15A-78B1-0D64-382495E643A6}"/>
                  </a:ext>
                </a:extLst>
              </p14:cNvPr>
              <p14:cNvContentPartPr/>
              <p14:nvPr/>
            </p14:nvContentPartPr>
            <p14:xfrm>
              <a:off x="12283866" y="2995188"/>
              <a:ext cx="1458000" cy="3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28DFD675-E15A-78B1-0D64-382495E643A6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2221226" y="2932548"/>
                <a:ext cx="158364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C19DE60-6B5E-54BD-015F-390E06DF007F}"/>
                  </a:ext>
                </a:extLst>
              </p14:cNvPr>
              <p14:cNvContentPartPr/>
              <p14:nvPr/>
            </p14:nvContentPartPr>
            <p14:xfrm>
              <a:off x="13852203" y="3071158"/>
              <a:ext cx="198792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C19DE60-6B5E-54BD-015F-390E06DF007F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3789203" y="3008518"/>
                <a:ext cx="211356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B02F882-833C-3BFE-2B30-E4B756069953}"/>
                  </a:ext>
                </a:extLst>
              </p14:cNvPr>
              <p14:cNvContentPartPr/>
              <p14:nvPr/>
            </p14:nvContentPartPr>
            <p14:xfrm>
              <a:off x="15916826" y="3040918"/>
              <a:ext cx="1740240" cy="248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B02F882-833C-3BFE-2B30-E4B75606995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5854186" y="2977918"/>
                <a:ext cx="1865880" cy="150480"/>
              </a:xfrm>
              <a:prstGeom prst="rect">
                <a:avLst/>
              </a:prstGeom>
            </p:spPr>
          </p:pic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D7023C20-AC9F-ED49-976E-CF63B2DD4298}"/>
              </a:ext>
            </a:extLst>
          </p:cNvPr>
          <p:cNvSpPr txBox="1"/>
          <p:nvPr/>
        </p:nvSpPr>
        <p:spPr>
          <a:xfrm>
            <a:off x="576055" y="7460929"/>
            <a:ext cx="170843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sentiment analysis performed on the dataset, after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translation to English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resulted in very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accuracy and F1-score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that the chosen approach is ineffective.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as part of our second approach, we will utilize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m-BERT directly on the Tamil dataset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performance.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5135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31894B-A85C-0415-B437-DE8FD1B6F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>
            <a:extLst>
              <a:ext uri="{FF2B5EF4-FFF2-40B4-BE49-F238E27FC236}">
                <a16:creationId xmlns:a16="http://schemas.microsoft.com/office/drawing/2014/main" id="{1F3100B4-725E-95E1-0960-1D256FAAD9A0}"/>
              </a:ext>
            </a:extLst>
          </p:cNvPr>
          <p:cNvGrpSpPr/>
          <p:nvPr/>
        </p:nvGrpSpPr>
        <p:grpSpPr>
          <a:xfrm>
            <a:off x="15585684" y="4362727"/>
            <a:ext cx="2724448" cy="2724448"/>
            <a:chOff x="0" y="0"/>
            <a:chExt cx="812800" cy="81280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7AEA37F0-BF28-95B7-35C6-ED98A1E66AA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0B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B95AC75E-DE37-B7B0-5C88-7060A201A559}"/>
                </a:ext>
              </a:extLst>
            </p:cNvPr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735C5DF-6D3F-B3DC-E53C-35C3B899C5C3}"/>
              </a:ext>
            </a:extLst>
          </p:cNvPr>
          <p:cNvSpPr txBox="1"/>
          <p:nvPr/>
        </p:nvSpPr>
        <p:spPr>
          <a:xfrm>
            <a:off x="1028700" y="699606"/>
            <a:ext cx="16230600" cy="3420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PHASE 2: </a:t>
            </a:r>
            <a:r>
              <a:rPr lang="en-US" sz="5400" b="1" dirty="0">
                <a:solidFill>
                  <a:srgbClr val="66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Results</a:t>
            </a:r>
            <a:endParaRPr lang="en-US" sz="8000" b="1" dirty="0">
              <a:solidFill>
                <a:srgbClr val="6633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8960"/>
              </a:lnSpc>
              <a:spcBef>
                <a:spcPct val="0"/>
              </a:spcBef>
            </a:pPr>
            <a:endParaRPr lang="en-US" sz="8000" b="1" spc="320" dirty="0">
              <a:solidFill>
                <a:srgbClr val="6633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  <a:p>
            <a:pPr>
              <a:lnSpc>
                <a:spcPts val="8960"/>
              </a:lnSpc>
              <a:spcBef>
                <a:spcPct val="0"/>
              </a:spcBef>
            </a:pPr>
            <a:endParaRPr lang="en-US" sz="6400" b="1" spc="320" dirty="0">
              <a:solidFill>
                <a:srgbClr val="6E6256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D10F8374-65C6-2262-60FF-B51CA4CBD97D}"/>
              </a:ext>
            </a:extLst>
          </p:cNvPr>
          <p:cNvSpPr/>
          <p:nvPr/>
        </p:nvSpPr>
        <p:spPr>
          <a:xfrm>
            <a:off x="1028700" y="2010936"/>
            <a:ext cx="16230600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4FD84D-EE98-249D-B170-3A4CD4CFEF1B}"/>
              </a:ext>
            </a:extLst>
          </p:cNvPr>
          <p:cNvGrpSpPr/>
          <p:nvPr/>
        </p:nvGrpSpPr>
        <p:grpSpPr>
          <a:xfrm>
            <a:off x="9722659" y="4603372"/>
            <a:ext cx="2724448" cy="2820229"/>
            <a:chOff x="8736925" y="8245326"/>
            <a:chExt cx="812800" cy="841375"/>
          </a:xfrm>
        </p:grpSpPr>
        <p:sp>
          <p:nvSpPr>
            <p:cNvPr id="3" name="Freeform 8">
              <a:extLst>
                <a:ext uri="{FF2B5EF4-FFF2-40B4-BE49-F238E27FC236}">
                  <a16:creationId xmlns:a16="http://schemas.microsoft.com/office/drawing/2014/main" id="{037563C9-CEE7-706F-A44B-A271CABEE0C3}"/>
                </a:ext>
              </a:extLst>
            </p:cNvPr>
            <p:cNvSpPr/>
            <p:nvPr/>
          </p:nvSpPr>
          <p:spPr>
            <a:xfrm>
              <a:off x="8736925" y="8273901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ED0B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84D38C1C-EFEC-802F-76DA-4C782606CB5C}"/>
                </a:ext>
              </a:extLst>
            </p:cNvPr>
            <p:cNvSpPr txBox="1"/>
            <p:nvPr/>
          </p:nvSpPr>
          <p:spPr>
            <a:xfrm>
              <a:off x="8813125" y="8245326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1" name="Freeform 8">
            <a:extLst>
              <a:ext uri="{FF2B5EF4-FFF2-40B4-BE49-F238E27FC236}">
                <a16:creationId xmlns:a16="http://schemas.microsoft.com/office/drawing/2014/main" id="{6C001215-6F6E-5A7F-07EB-FC4B1C7B6710}"/>
              </a:ext>
            </a:extLst>
          </p:cNvPr>
          <p:cNvSpPr/>
          <p:nvPr/>
        </p:nvSpPr>
        <p:spPr>
          <a:xfrm>
            <a:off x="-601937" y="1653035"/>
            <a:ext cx="2724448" cy="272444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DED0B6"/>
          </a:solidFill>
        </p:spPr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5258EE-A5FC-2A8F-5D8C-1D7813A0E6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136" y="2553764"/>
            <a:ext cx="5431569" cy="388960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80B45E8-D555-1996-0384-1E7631BBF7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49"/>
          <a:stretch/>
        </p:blipFill>
        <p:spPr>
          <a:xfrm>
            <a:off x="6108758" y="2553764"/>
            <a:ext cx="5702977" cy="390159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B76AF86-76B6-2CBD-EC84-2D48035A58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79243" y="2557874"/>
            <a:ext cx="5868878" cy="38896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A1F3B2-AC5E-4266-EECC-36CD859D16C8}"/>
              </a:ext>
            </a:extLst>
          </p:cNvPr>
          <p:cNvSpPr txBox="1"/>
          <p:nvPr/>
        </p:nvSpPr>
        <p:spPr>
          <a:xfrm>
            <a:off x="281332" y="6744029"/>
            <a:ext cx="666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XGBoost Classifier Performance Metrics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002764-828A-D265-60F1-05B1D1B3E9F3}"/>
              </a:ext>
            </a:extLst>
          </p:cNvPr>
          <p:cNvSpPr txBox="1"/>
          <p:nvPr/>
        </p:nvSpPr>
        <p:spPr>
          <a:xfrm>
            <a:off x="5813619" y="6732422"/>
            <a:ext cx="666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Classifier Performance Metrics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9AE5D6-5028-6830-CE44-8CC510EFEBCB}"/>
              </a:ext>
            </a:extLst>
          </p:cNvPr>
          <p:cNvSpPr txBox="1"/>
          <p:nvPr/>
        </p:nvSpPr>
        <p:spPr>
          <a:xfrm>
            <a:off x="12510720" y="6744029"/>
            <a:ext cx="66607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Classifier Performance Metrics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EF769D-6DC6-B413-A13B-C1D70986DFDF}"/>
              </a:ext>
            </a:extLst>
          </p:cNvPr>
          <p:cNvSpPr txBox="1"/>
          <p:nvPr/>
        </p:nvSpPr>
        <p:spPr>
          <a:xfrm>
            <a:off x="865413" y="7576457"/>
            <a:ext cx="16687801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applying an 80-20 train-test split on the training data, the classifiers achieved the above accuracy.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when evaluated on the testing data, the model performed poorly</a:t>
            </a:r>
            <a:r>
              <a:rPr lang="en-US" sz="3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overfitting.</a:t>
            </a:r>
            <a:endParaRPr lang="en-IN" sz="3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95493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D563DB-B9FB-E0BA-D424-D2EA55968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2">
            <a:extLst>
              <a:ext uri="{FF2B5EF4-FFF2-40B4-BE49-F238E27FC236}">
                <a16:creationId xmlns:a16="http://schemas.microsoft.com/office/drawing/2014/main" id="{DA1A1EBB-E6B4-7BF5-ECB3-FE3765FD4787}"/>
              </a:ext>
            </a:extLst>
          </p:cNvPr>
          <p:cNvSpPr txBox="1"/>
          <p:nvPr/>
        </p:nvSpPr>
        <p:spPr>
          <a:xfrm>
            <a:off x="1028700" y="699606"/>
            <a:ext cx="16230600" cy="106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  <a:spcBef>
                <a:spcPct val="0"/>
              </a:spcBef>
            </a:pPr>
            <a:r>
              <a:rPr lang="en-US" sz="6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PHASE 2: </a:t>
            </a:r>
            <a:r>
              <a:rPr lang="en-US" sz="5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Insights and Understanding </a:t>
            </a:r>
            <a:endParaRPr lang="en-US" sz="6400" b="1" spc="320" dirty="0">
              <a:solidFill>
                <a:srgbClr val="6633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14" name="AutoShape 14">
            <a:extLst>
              <a:ext uri="{FF2B5EF4-FFF2-40B4-BE49-F238E27FC236}">
                <a16:creationId xmlns:a16="http://schemas.microsoft.com/office/drawing/2014/main" id="{66D8B65A-9499-6CFB-F38F-945DC52846D5}"/>
              </a:ext>
            </a:extLst>
          </p:cNvPr>
          <p:cNvSpPr/>
          <p:nvPr/>
        </p:nvSpPr>
        <p:spPr>
          <a:xfrm>
            <a:off x="1028700" y="2010936"/>
            <a:ext cx="16230600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DDAFBA-849F-8AB4-B1CE-231A918614FE}"/>
              </a:ext>
            </a:extLst>
          </p:cNvPr>
          <p:cNvSpPr txBox="1"/>
          <p:nvPr/>
        </p:nvSpPr>
        <p:spPr>
          <a:xfrm>
            <a:off x="1028700" y="2507226"/>
            <a:ext cx="13519156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3200" dirty="0"/>
          </a:p>
          <a:p>
            <a:endParaRPr lang="en-IN" sz="3200" dirty="0"/>
          </a:p>
          <a:p>
            <a:r>
              <a:rPr lang="en-IN" sz="3200" dirty="0"/>
              <a:t> </a:t>
            </a:r>
          </a:p>
          <a:p>
            <a:endParaRPr lang="en-IN" sz="3200" b="1" dirty="0"/>
          </a:p>
          <a:p>
            <a:endParaRPr lang="en-IN" sz="32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25E1F2-D8EA-D8FF-9478-3997B41A7668}"/>
              </a:ext>
            </a:extLst>
          </p:cNvPr>
          <p:cNvSpPr txBox="1"/>
          <p:nvPr/>
        </p:nvSpPr>
        <p:spPr>
          <a:xfrm>
            <a:off x="1028700" y="2156647"/>
            <a:ext cx="8193360" cy="7263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Challenge: </a:t>
            </a:r>
            <a:r>
              <a:rPr lang="en-US" sz="2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Overfitting leads to poor generalization.</a:t>
            </a:r>
          </a:p>
          <a:p>
            <a:pPr rtl="0"/>
            <a:endParaRPr lang="en-US" sz="2800" b="1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Issues:</a:t>
            </a:r>
          </a:p>
          <a:p>
            <a:pPr rtl="0"/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Model performs well on training data but poorly on unseen data.</a:t>
            </a:r>
            <a:b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Fails to generalize patterns, leading to inaccurate predictions on unseen data.</a:t>
            </a:r>
          </a:p>
          <a:p>
            <a:pPr rtl="0"/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Lasso Regression (L1 Regularization)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reduces model complexity by shrinking less important coefficients to zero.</a:t>
            </a:r>
            <a:b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Ridge Regression (L2 Regularization)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penalizes large coefficients to prevent overfitting.</a:t>
            </a:r>
            <a:b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regularization helps control overfitting in classification tasks.</a:t>
            </a:r>
            <a:endParaRPr lang="en-IN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/>
            <a:endParaRPr lang="en-US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FC029A5-08DE-A1B3-35CD-472C59FABC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1157" y="2156647"/>
            <a:ext cx="7976722" cy="563823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B19240-9900-E2F1-2462-2019A47908BD}"/>
              </a:ext>
            </a:extLst>
          </p:cNvPr>
          <p:cNvSpPr txBox="1"/>
          <p:nvPr/>
        </p:nvSpPr>
        <p:spPr>
          <a:xfrm>
            <a:off x="9421157" y="7840605"/>
            <a:ext cx="7838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XG-Boost when evaluated with Separate Training data and testing datasets for Tamil language dataset</a:t>
            </a:r>
          </a:p>
        </p:txBody>
      </p:sp>
    </p:spTree>
    <p:extLst>
      <p:ext uri="{BB962C8B-B14F-4D97-AF65-F5344CB8AC3E}">
        <p14:creationId xmlns:p14="http://schemas.microsoft.com/office/powerpoint/2010/main" val="217302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7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2392C470-C5F5-073D-0961-0DAD8C807427}"/>
              </a:ext>
            </a:extLst>
          </p:cNvPr>
          <p:cNvSpPr txBox="1"/>
          <p:nvPr/>
        </p:nvSpPr>
        <p:spPr>
          <a:xfrm>
            <a:off x="1028700" y="699606"/>
            <a:ext cx="16230600" cy="106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  <a:spcBef>
                <a:spcPct val="0"/>
              </a:spcBef>
            </a:pPr>
            <a:r>
              <a:rPr lang="en-US" sz="6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PHASE 3: </a:t>
            </a:r>
            <a:r>
              <a:rPr lang="en-US" sz="60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Results and Future work</a:t>
            </a:r>
            <a:endParaRPr lang="en-US" sz="6400" b="1" spc="320" dirty="0">
              <a:solidFill>
                <a:srgbClr val="663300"/>
              </a:solidFill>
              <a:latin typeface="Times New Roman" panose="02020603050405020304" pitchFamily="18" charset="0"/>
              <a:ea typeface="League Spartan"/>
              <a:cs typeface="Times New Roman" panose="02020603050405020304" pitchFamily="18" charset="0"/>
              <a:sym typeface="League Spartan"/>
            </a:endParaRPr>
          </a:p>
        </p:txBody>
      </p:sp>
      <p:sp>
        <p:nvSpPr>
          <p:cNvPr id="3" name="AutoShape 14">
            <a:extLst>
              <a:ext uri="{FF2B5EF4-FFF2-40B4-BE49-F238E27FC236}">
                <a16:creationId xmlns:a16="http://schemas.microsoft.com/office/drawing/2014/main" id="{660EAF3B-9DC7-EF94-F63A-DCB13FE3BEF9}"/>
              </a:ext>
            </a:extLst>
          </p:cNvPr>
          <p:cNvSpPr/>
          <p:nvPr/>
        </p:nvSpPr>
        <p:spPr>
          <a:xfrm>
            <a:off x="1028700" y="1960136"/>
            <a:ext cx="16230600" cy="0"/>
          </a:xfrm>
          <a:prstGeom prst="line">
            <a:avLst/>
          </a:prstGeom>
          <a:ln w="19050" cap="flat">
            <a:solidFill>
              <a:srgbClr val="6E6256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0FF97C-4950-2532-C191-4D333D4F8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832" y="3065864"/>
            <a:ext cx="7708440" cy="60950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F39DF4-5155-E5E0-7720-D688F3113F5E}"/>
              </a:ext>
            </a:extLst>
          </p:cNvPr>
          <p:cNvSpPr txBox="1"/>
          <p:nvPr/>
        </p:nvSpPr>
        <p:spPr>
          <a:xfrm>
            <a:off x="1028699" y="2225875"/>
            <a:ext cx="7471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+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L1 regularization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64E531-A36E-F27F-7BAD-A8C02FCCCE7D}"/>
              </a:ext>
            </a:extLst>
          </p:cNvPr>
          <p:cNvSpPr txBox="1"/>
          <p:nvPr/>
        </p:nvSpPr>
        <p:spPr>
          <a:xfrm>
            <a:off x="9376832" y="2234174"/>
            <a:ext cx="7763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+ 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mbert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L2 regularization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E51218-9456-C375-F3E6-81360535F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49" y="3065864"/>
            <a:ext cx="7837236" cy="6095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4447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0B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53B687-254E-05E3-EA17-655E2730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>
            <a:extLst>
              <a:ext uri="{FF2B5EF4-FFF2-40B4-BE49-F238E27FC236}">
                <a16:creationId xmlns:a16="http://schemas.microsoft.com/office/drawing/2014/main" id="{EBCA7CC7-88A7-CD44-1D9A-3C75AD8A9C2D}"/>
              </a:ext>
            </a:extLst>
          </p:cNvPr>
          <p:cNvSpPr/>
          <p:nvPr/>
        </p:nvSpPr>
        <p:spPr>
          <a:xfrm>
            <a:off x="1028700" y="2010936"/>
            <a:ext cx="1623060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961775C-735C-43D2-8C9E-BBB9BF3755AC}"/>
              </a:ext>
            </a:extLst>
          </p:cNvPr>
          <p:cNvSpPr/>
          <p:nvPr/>
        </p:nvSpPr>
        <p:spPr>
          <a:xfrm>
            <a:off x="11125200" y="800100"/>
            <a:ext cx="2724448" cy="272444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A4907C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C69E369-1E8F-E919-99D1-E98703B768F3}"/>
              </a:ext>
            </a:extLst>
          </p:cNvPr>
          <p:cNvSpPr txBox="1"/>
          <p:nvPr/>
        </p:nvSpPr>
        <p:spPr>
          <a:xfrm>
            <a:off x="1219200" y="647940"/>
            <a:ext cx="9639300" cy="11118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960"/>
              </a:lnSpc>
              <a:spcBef>
                <a:spcPct val="0"/>
              </a:spcBef>
            </a:pPr>
            <a:r>
              <a:rPr lang="en-US" sz="6400" spc="320">
                <a:solidFill>
                  <a:srgbClr val="6E625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CHALLENGES FACED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410B80A-36BB-C799-C762-44BFC5A15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8700" y="2518107"/>
            <a:ext cx="104013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Language Complexity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Tamil’s agglutinative nature and rich morphology make sentiment analysis challenging, requiring advanced linguistic handling.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Sarcasm &amp; Context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Sarcasm, irony, and implicit sentiment in political discourse are difficult to detect without deep contextual understanding.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Uneven distribution of sentiment classes skews model predictions, requiring techniques like oversampling or balanced loss functions.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Translation Errors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Tamil-to-English translation may introduce semantic shifts, affecting the accuracy of sentiment classification.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🔹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Cost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– BERT-based models demand significant processing power.</a:t>
            </a:r>
          </a:p>
        </p:txBody>
      </p:sp>
      <p:pic>
        <p:nvPicPr>
          <p:cNvPr id="1029" name="Picture 5" descr="This may contain: a person standing next to a red question mark">
            <a:extLst>
              <a:ext uri="{FF2B5EF4-FFF2-40B4-BE49-F238E27FC236}">
                <a16:creationId xmlns:a16="http://schemas.microsoft.com/office/drawing/2014/main" id="{C58C6938-276C-4ECE-B9D0-84BBA55BFE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04" r="9429"/>
          <a:stretch/>
        </p:blipFill>
        <p:spPr bwMode="auto">
          <a:xfrm>
            <a:off x="12573000" y="0"/>
            <a:ext cx="5706533" cy="10557190"/>
          </a:xfrm>
          <a:prstGeom prst="rect">
            <a:avLst/>
          </a:prstGeom>
          <a:solidFill>
            <a:srgbClr val="DED0B6"/>
          </a:solidFill>
        </p:spPr>
      </p:pic>
    </p:spTree>
    <p:extLst>
      <p:ext uri="{BB962C8B-B14F-4D97-AF65-F5344CB8AC3E}">
        <p14:creationId xmlns:p14="http://schemas.microsoft.com/office/powerpoint/2010/main" val="3230259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2C8B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1BABEF11-673C-62F7-C074-5EB3F33F0B25}"/>
              </a:ext>
            </a:extLst>
          </p:cNvPr>
          <p:cNvSpPr txBox="1"/>
          <p:nvPr/>
        </p:nvSpPr>
        <p:spPr>
          <a:xfrm>
            <a:off x="1028700" y="699606"/>
            <a:ext cx="16230600" cy="1064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  <a:spcBef>
                <a:spcPct val="0"/>
              </a:spcBef>
            </a:pPr>
            <a:r>
              <a:rPr lang="en-US" sz="6400" b="1" spc="320" dirty="0">
                <a:solidFill>
                  <a:srgbClr val="663300"/>
                </a:solidFill>
                <a:latin typeface="Times New Roman" panose="02020603050405020304" pitchFamily="18" charset="0"/>
                <a:ea typeface="League Spartan"/>
                <a:cs typeface="Times New Roman" panose="02020603050405020304" pitchFamily="18" charset="0"/>
                <a:sym typeface="League Spartan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182B10-EEE4-7263-96D1-98816A0022AC}"/>
              </a:ext>
            </a:extLst>
          </p:cNvPr>
          <p:cNvSpPr txBox="1"/>
          <p:nvPr/>
        </p:nvSpPr>
        <p:spPr>
          <a:xfrm>
            <a:off x="1028701" y="1998134"/>
            <a:ext cx="102997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conclusion, developing an effective sentiment classification </a:t>
            </a:r>
            <a:r>
              <a:rPr lang="en-US" sz="2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pipeline for Tamil text involves addressing a multifaceted set of challenges spanning linguistic complexity, data limitations, </a:t>
            </a:r>
            <a:r>
              <a:rPr lang="en-IN" sz="280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computational constraints.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Data-related issues, such as class imbalance, necessitate careful handling through resampling strategies or balanced loss functions to ensure fair and accurate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predictions.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Additionally, translation-based approaches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 semantic drift that can compromise embedding quality, and high computational demands of transformer-based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limit their scalability.</a:t>
            </a:r>
          </a:p>
          <a:p>
            <a:pPr algn="just"/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challenges highlight that </a:t>
            </a:r>
            <a:r>
              <a:rPr lang="en-US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methods, even those successful in high-resource languages, do not directly transfer to low-resource, morphologically </a:t>
            </a:r>
            <a:r>
              <a:rPr lang="en-IN" sz="2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rich languages like Tamil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cons Conclude Conclusion #805446 Vector Icon | Vectopus">
            <a:extLst>
              <a:ext uri="{FF2B5EF4-FFF2-40B4-BE49-F238E27FC236}">
                <a16:creationId xmlns:a16="http://schemas.microsoft.com/office/drawing/2014/main" id="{5CEEE322-7EBE-10BD-CA2A-4BF55DCDD2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45898" y="1998134"/>
            <a:ext cx="6299199" cy="6299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0838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E625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9272587"/>
            <a:ext cx="18288000" cy="0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7" name="AutoShape 7"/>
          <p:cNvSpPr/>
          <p:nvPr/>
        </p:nvSpPr>
        <p:spPr>
          <a:xfrm>
            <a:off x="2651760" y="1047750"/>
            <a:ext cx="8965822" cy="0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8" name="AutoShape 8"/>
          <p:cNvSpPr/>
          <p:nvPr/>
        </p:nvSpPr>
        <p:spPr>
          <a:xfrm>
            <a:off x="17748766" y="0"/>
            <a:ext cx="0" cy="9240261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11961215" y="586754"/>
            <a:ext cx="795850" cy="656576"/>
          </a:xfrm>
          <a:custGeom>
            <a:avLst/>
            <a:gdLst/>
            <a:ahLst/>
            <a:cxnLst/>
            <a:rect l="l" t="t" r="r" b="b"/>
            <a:pathLst>
              <a:path w="795850" h="656576">
                <a:moveTo>
                  <a:pt x="0" y="0"/>
                </a:moveTo>
                <a:lnTo>
                  <a:pt x="795850" y="0"/>
                </a:lnTo>
                <a:lnTo>
                  <a:pt x="795850" y="656576"/>
                </a:lnTo>
                <a:lnTo>
                  <a:pt x="0" y="6565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/>
          <p:cNvGrpSpPr/>
          <p:nvPr/>
        </p:nvGrpSpPr>
        <p:grpSpPr>
          <a:xfrm>
            <a:off x="1442214" y="442977"/>
            <a:ext cx="1209546" cy="120954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90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386543" y="7878037"/>
            <a:ext cx="2724448" cy="272444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4907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543394" y="3708431"/>
            <a:ext cx="8722941" cy="3891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254"/>
              </a:lnSpc>
            </a:pPr>
            <a:r>
              <a:rPr lang="en-US" sz="13499" spc="674">
                <a:solidFill>
                  <a:srgbClr val="FDF7E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23337" y="9418439"/>
            <a:ext cx="2937815" cy="471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199"/>
              </a:lnSpc>
              <a:spcBef>
                <a:spcPct val="0"/>
              </a:spcBef>
            </a:pPr>
            <a:r>
              <a:rPr lang="en-US" sz="2999" spc="149">
                <a:solidFill>
                  <a:srgbClr val="FDF7E4"/>
                </a:solidFill>
                <a:latin typeface="Futura"/>
                <a:ea typeface="Futura"/>
                <a:cs typeface="Futura"/>
                <a:sym typeface="Futura"/>
              </a:rPr>
              <a:t>BY GROUP 3 </a:t>
            </a:r>
          </a:p>
        </p:txBody>
      </p:sp>
      <p:sp>
        <p:nvSpPr>
          <p:cNvPr id="19" name="AutoShape 7">
            <a:extLst>
              <a:ext uri="{FF2B5EF4-FFF2-40B4-BE49-F238E27FC236}">
                <a16:creationId xmlns:a16="http://schemas.microsoft.com/office/drawing/2014/main" id="{27ADBB5E-EFAD-9F9B-0549-1F8446ED00F6}"/>
              </a:ext>
            </a:extLst>
          </p:cNvPr>
          <p:cNvSpPr/>
          <p:nvPr/>
        </p:nvSpPr>
        <p:spPr>
          <a:xfrm>
            <a:off x="13097510" y="1063625"/>
            <a:ext cx="8965822" cy="0"/>
          </a:xfrm>
          <a:prstGeom prst="line">
            <a:avLst/>
          </a:prstGeom>
          <a:ln w="19050" cap="flat">
            <a:solidFill>
              <a:srgbClr val="FDF7E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678</TotalTime>
  <Words>1432</Words>
  <Application>Microsoft Office PowerPoint</Application>
  <PresentationFormat>Custom</PresentationFormat>
  <Paragraphs>148</Paragraphs>
  <Slides>19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Wingdings</vt:lpstr>
      <vt:lpstr>Times New Roman</vt:lpstr>
      <vt:lpstr>Calibri</vt:lpstr>
      <vt:lpstr>League Spartan</vt:lpstr>
      <vt:lpstr>Futura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Beige Minimalist Furniture Strategy Deck Company Presentation</dc:title>
  <dc:creator>JYOTHSNA V</dc:creator>
  <cp:lastModifiedBy>Jyothsna Vaasudevan</cp:lastModifiedBy>
  <cp:revision>27</cp:revision>
  <dcterms:created xsi:type="dcterms:W3CDTF">2006-08-16T00:00:00Z</dcterms:created>
  <dcterms:modified xsi:type="dcterms:W3CDTF">2025-04-14T09:46:26Z</dcterms:modified>
  <dc:identifier>DAGeZlAZuPM</dc:identifier>
</cp:coreProperties>
</file>